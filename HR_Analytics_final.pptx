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
  </p:notesMasterIdLst>
  <p:sldIdLst>
    <p:sldId id="256" r:id="rId2"/>
    <p:sldId id="270" r:id="rId3"/>
    <p:sldId id="260" r:id="rId4"/>
    <p:sldId id="257" r:id="rId5"/>
    <p:sldId id="258" r:id="rId6"/>
    <p:sldId id="259" r:id="rId7"/>
    <p:sldId id="261" r:id="rId8"/>
    <p:sldId id="271" r:id="rId9"/>
    <p:sldId id="272" r:id="rId10"/>
    <p:sldId id="274" r:id="rId11"/>
    <p:sldId id="273" r:id="rId12"/>
    <p:sldId id="262" r:id="rId13"/>
    <p:sldId id="263"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gathi Somanna P S" initials="PP" lastIdx="1" clrIdx="0">
    <p:extLst>
      <p:ext uri="{19B8F6BF-5375-455C-9EA6-DF929625EA0E}">
        <p15:presenceInfo xmlns:p15="http://schemas.microsoft.com/office/powerpoint/2012/main" userId="398127e81913e23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7" d="100"/>
          <a:sy n="107" d="100"/>
        </p:scale>
        <p:origin x="75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549466-451C-45B7-A16E-2380E6956CC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IN"/>
        </a:p>
      </dgm:t>
    </dgm:pt>
    <dgm:pt modelId="{E0214D9A-FF51-4030-AEF5-156703127643}">
      <dgm:prSet/>
      <dgm:spPr/>
      <dgm:t>
        <a:bodyPr/>
        <a:lstStyle/>
        <a:p>
          <a:r>
            <a:rPr lang="en-US" b="1" i="1" u="none" dirty="0"/>
            <a:t>Level   </a:t>
          </a:r>
          <a:r>
            <a:rPr lang="en-US" b="1" i="1" u="sng" dirty="0"/>
            <a:t> </a:t>
          </a:r>
          <a:r>
            <a:rPr lang="en-US" b="1" i="1" u="none" dirty="0"/>
            <a:t>Type                 </a:t>
          </a:r>
          <a:r>
            <a:rPr lang="en-US" b="1" i="1" u="sng" dirty="0"/>
            <a:t> </a:t>
          </a:r>
          <a:r>
            <a:rPr lang="en-US" b="1" i="1" u="none" dirty="0"/>
            <a:t>Question Answered                                 Example</a:t>
          </a:r>
          <a:endParaRPr lang="en-IN" b="1" i="1" u="none" dirty="0"/>
        </a:p>
      </dgm:t>
    </dgm:pt>
    <dgm:pt modelId="{69C2B48F-C386-4232-A625-2D6B0FDD31D6}" type="parTrans" cxnId="{03CF88A0-35ED-419B-B2D1-62BCD4CE8CE2}">
      <dgm:prSet/>
      <dgm:spPr/>
      <dgm:t>
        <a:bodyPr/>
        <a:lstStyle/>
        <a:p>
          <a:endParaRPr lang="en-IN"/>
        </a:p>
      </dgm:t>
    </dgm:pt>
    <dgm:pt modelId="{7C76DC18-5AF7-4869-9641-6466D2F2874D}" type="sibTrans" cxnId="{03CF88A0-35ED-419B-B2D1-62BCD4CE8CE2}">
      <dgm:prSet/>
      <dgm:spPr/>
      <dgm:t>
        <a:bodyPr/>
        <a:lstStyle/>
        <a:p>
          <a:endParaRPr lang="en-IN"/>
        </a:p>
      </dgm:t>
    </dgm:pt>
    <dgm:pt modelId="{52E27806-27D7-4F7E-AD99-5C0EDDD3FE54}">
      <dgm:prSet/>
      <dgm:spPr/>
      <dgm:t>
        <a:bodyPr/>
        <a:lstStyle/>
        <a:p>
          <a:r>
            <a:rPr lang="en-US" dirty="0"/>
            <a:t>1.         Descriptive        What happened?                       What was our turnover rate last year?</a:t>
          </a:r>
          <a:endParaRPr lang="en-IN" dirty="0"/>
        </a:p>
      </dgm:t>
    </dgm:pt>
    <dgm:pt modelId="{DC71474A-AF4B-44DD-8C1D-4CEF028A69B2}" type="parTrans" cxnId="{107EEBAA-3296-4CB9-8C7E-AC909B7BCAFC}">
      <dgm:prSet/>
      <dgm:spPr/>
      <dgm:t>
        <a:bodyPr/>
        <a:lstStyle/>
        <a:p>
          <a:endParaRPr lang="en-IN"/>
        </a:p>
      </dgm:t>
    </dgm:pt>
    <dgm:pt modelId="{48D4089D-8DE7-4ADA-AD2D-FB9C4F1635B5}" type="sibTrans" cxnId="{107EEBAA-3296-4CB9-8C7E-AC909B7BCAFC}">
      <dgm:prSet/>
      <dgm:spPr/>
      <dgm:t>
        <a:bodyPr/>
        <a:lstStyle/>
        <a:p>
          <a:endParaRPr lang="en-IN"/>
        </a:p>
      </dgm:t>
    </dgm:pt>
    <dgm:pt modelId="{371E5C6B-A5B3-4839-9A54-AA0B38FC5253}">
      <dgm:prSet/>
      <dgm:spPr/>
      <dgm:t>
        <a:bodyPr/>
        <a:lstStyle/>
        <a:p>
          <a:r>
            <a:rPr lang="en-US" dirty="0"/>
            <a:t>2.         Diagnostic         Why did it happen?                   Why are employees leaving the sales department?</a:t>
          </a:r>
          <a:endParaRPr lang="en-IN" dirty="0"/>
        </a:p>
      </dgm:t>
    </dgm:pt>
    <dgm:pt modelId="{C2CA910D-8F1F-4E83-B7EF-6AE4EF96A2E3}" type="parTrans" cxnId="{28D55F33-E333-41B9-9B91-C82FD862BF2F}">
      <dgm:prSet/>
      <dgm:spPr/>
      <dgm:t>
        <a:bodyPr/>
        <a:lstStyle/>
        <a:p>
          <a:endParaRPr lang="en-IN"/>
        </a:p>
      </dgm:t>
    </dgm:pt>
    <dgm:pt modelId="{AC90CE13-CB02-4A33-A362-DA9962A5D753}" type="sibTrans" cxnId="{28D55F33-E333-41B9-9B91-C82FD862BF2F}">
      <dgm:prSet/>
      <dgm:spPr/>
      <dgm:t>
        <a:bodyPr/>
        <a:lstStyle/>
        <a:p>
          <a:endParaRPr lang="en-IN"/>
        </a:p>
      </dgm:t>
    </dgm:pt>
    <dgm:pt modelId="{33106972-20C8-4097-A53B-D745F931E56A}">
      <dgm:prSet/>
      <dgm:spPr/>
      <dgm:t>
        <a:bodyPr/>
        <a:lstStyle/>
        <a:p>
          <a:r>
            <a:rPr lang="en-US" dirty="0"/>
            <a:t>3.        Predictive        What will happen?                       Which high-performing employees are at risk of leaving?</a:t>
          </a:r>
          <a:endParaRPr lang="en-IN" dirty="0"/>
        </a:p>
      </dgm:t>
    </dgm:pt>
    <dgm:pt modelId="{8700970E-A55B-4FE6-A1C2-0A75BDCF4A52}" type="parTrans" cxnId="{8D93DBBC-8673-4473-9016-E16339B22CD1}">
      <dgm:prSet/>
      <dgm:spPr/>
      <dgm:t>
        <a:bodyPr/>
        <a:lstStyle/>
        <a:p>
          <a:endParaRPr lang="en-IN"/>
        </a:p>
      </dgm:t>
    </dgm:pt>
    <dgm:pt modelId="{AF1AB2BB-9835-443B-AE14-DB1BA0EBF024}" type="sibTrans" cxnId="{8D93DBBC-8673-4473-9016-E16339B22CD1}">
      <dgm:prSet/>
      <dgm:spPr/>
      <dgm:t>
        <a:bodyPr/>
        <a:lstStyle/>
        <a:p>
          <a:endParaRPr lang="en-IN"/>
        </a:p>
      </dgm:t>
    </dgm:pt>
    <dgm:pt modelId="{0B3A8BE2-054B-4054-9BCD-C4CF4115997B}">
      <dgm:prSet/>
      <dgm:spPr/>
      <dgm:t>
        <a:bodyPr/>
        <a:lstStyle/>
        <a:p>
          <a:r>
            <a:rPr lang="en-US" dirty="0"/>
            <a:t>4.         Prescriptive     How can we make it happen?     What specific bonus structure will increase retention by 20%?</a:t>
          </a:r>
          <a:endParaRPr lang="en-IN" dirty="0"/>
        </a:p>
      </dgm:t>
    </dgm:pt>
    <dgm:pt modelId="{EB5A2797-51CA-4B99-B999-F840E3D3EA28}" type="parTrans" cxnId="{579FD7D6-366B-487C-8538-75B702137FB9}">
      <dgm:prSet/>
      <dgm:spPr/>
      <dgm:t>
        <a:bodyPr/>
        <a:lstStyle/>
        <a:p>
          <a:endParaRPr lang="en-IN"/>
        </a:p>
      </dgm:t>
    </dgm:pt>
    <dgm:pt modelId="{539548A2-9A6C-4EC3-80B4-B5B48ACBE926}" type="sibTrans" cxnId="{579FD7D6-366B-487C-8538-75B702137FB9}">
      <dgm:prSet/>
      <dgm:spPr/>
      <dgm:t>
        <a:bodyPr/>
        <a:lstStyle/>
        <a:p>
          <a:endParaRPr lang="en-IN"/>
        </a:p>
      </dgm:t>
    </dgm:pt>
    <dgm:pt modelId="{1AA94DD0-12CB-46D4-8783-6B73D69E4DC7}" type="pres">
      <dgm:prSet presAssocID="{E9549466-451C-45B7-A16E-2380E6956CCC}" presName="linear" presStyleCnt="0">
        <dgm:presLayoutVars>
          <dgm:animLvl val="lvl"/>
          <dgm:resizeHandles val="exact"/>
        </dgm:presLayoutVars>
      </dgm:prSet>
      <dgm:spPr/>
    </dgm:pt>
    <dgm:pt modelId="{98695D9D-5E35-418D-8A70-EA7753023E8D}" type="pres">
      <dgm:prSet presAssocID="{E0214D9A-FF51-4030-AEF5-156703127643}" presName="parentText" presStyleLbl="node1" presStyleIdx="0" presStyleCnt="5" custScaleY="64420">
        <dgm:presLayoutVars>
          <dgm:chMax val="0"/>
          <dgm:bulletEnabled val="1"/>
        </dgm:presLayoutVars>
      </dgm:prSet>
      <dgm:spPr/>
    </dgm:pt>
    <dgm:pt modelId="{2C7E5AAC-49BB-4A93-9266-DF3C85B5B072}" type="pres">
      <dgm:prSet presAssocID="{7C76DC18-5AF7-4869-9641-6466D2F2874D}" presName="spacer" presStyleCnt="0"/>
      <dgm:spPr/>
    </dgm:pt>
    <dgm:pt modelId="{3ED9FBAC-FE1C-4F16-980B-F5D64E71D335}" type="pres">
      <dgm:prSet presAssocID="{52E27806-27D7-4F7E-AD99-5C0EDDD3FE54}" presName="parentText" presStyleLbl="node1" presStyleIdx="1" presStyleCnt="5" custScaleY="67047">
        <dgm:presLayoutVars>
          <dgm:chMax val="0"/>
          <dgm:bulletEnabled val="1"/>
        </dgm:presLayoutVars>
      </dgm:prSet>
      <dgm:spPr/>
    </dgm:pt>
    <dgm:pt modelId="{0A9DB404-D581-4214-83C2-FE34E4B77F6B}" type="pres">
      <dgm:prSet presAssocID="{48D4089D-8DE7-4ADA-AD2D-FB9C4F1635B5}" presName="spacer" presStyleCnt="0"/>
      <dgm:spPr/>
    </dgm:pt>
    <dgm:pt modelId="{8110509B-EA0A-4109-8CE4-7A4A659C4BC1}" type="pres">
      <dgm:prSet presAssocID="{371E5C6B-A5B3-4839-9A54-AA0B38FC5253}" presName="parentText" presStyleLbl="node1" presStyleIdx="2" presStyleCnt="5" custScaleY="64408">
        <dgm:presLayoutVars>
          <dgm:chMax val="0"/>
          <dgm:bulletEnabled val="1"/>
        </dgm:presLayoutVars>
      </dgm:prSet>
      <dgm:spPr/>
    </dgm:pt>
    <dgm:pt modelId="{59B3926B-73E0-405E-8633-6A192CD6B88C}" type="pres">
      <dgm:prSet presAssocID="{AC90CE13-CB02-4A33-A362-DA9962A5D753}" presName="spacer" presStyleCnt="0"/>
      <dgm:spPr/>
    </dgm:pt>
    <dgm:pt modelId="{8A72D9E8-C1BB-4628-B85C-F67370CD6473}" type="pres">
      <dgm:prSet presAssocID="{33106972-20C8-4097-A53B-D745F931E56A}" presName="parentText" presStyleLbl="node1" presStyleIdx="3" presStyleCnt="5" custScaleY="59661">
        <dgm:presLayoutVars>
          <dgm:chMax val="0"/>
          <dgm:bulletEnabled val="1"/>
        </dgm:presLayoutVars>
      </dgm:prSet>
      <dgm:spPr/>
    </dgm:pt>
    <dgm:pt modelId="{1B66EC3C-A833-435B-BE3F-C54401044808}" type="pres">
      <dgm:prSet presAssocID="{AF1AB2BB-9835-443B-AE14-DB1BA0EBF024}" presName="spacer" presStyleCnt="0"/>
      <dgm:spPr/>
    </dgm:pt>
    <dgm:pt modelId="{DE2C5D14-2B25-4B91-A33E-012A64D2F8FA}" type="pres">
      <dgm:prSet presAssocID="{0B3A8BE2-054B-4054-9BCD-C4CF4115997B}" presName="parentText" presStyleLbl="node1" presStyleIdx="4" presStyleCnt="5" custAng="10800000" custFlipVert="1" custScaleY="52689" custLinFactNeighborY="68401">
        <dgm:presLayoutVars>
          <dgm:chMax val="0"/>
          <dgm:bulletEnabled val="1"/>
        </dgm:presLayoutVars>
      </dgm:prSet>
      <dgm:spPr/>
    </dgm:pt>
  </dgm:ptLst>
  <dgm:cxnLst>
    <dgm:cxn modelId="{28D55F33-E333-41B9-9B91-C82FD862BF2F}" srcId="{E9549466-451C-45B7-A16E-2380E6956CCC}" destId="{371E5C6B-A5B3-4839-9A54-AA0B38FC5253}" srcOrd="2" destOrd="0" parTransId="{C2CA910D-8F1F-4E83-B7EF-6AE4EF96A2E3}" sibTransId="{AC90CE13-CB02-4A33-A362-DA9962A5D753}"/>
    <dgm:cxn modelId="{90BFB03E-2CA9-4F02-AA79-7E4CF1BAF0B8}" type="presOf" srcId="{E9549466-451C-45B7-A16E-2380E6956CCC}" destId="{1AA94DD0-12CB-46D4-8783-6B73D69E4DC7}" srcOrd="0" destOrd="0" presId="urn:microsoft.com/office/officeart/2005/8/layout/vList2"/>
    <dgm:cxn modelId="{5D533F58-8FBC-4C15-AF44-4BB137E3487B}" type="presOf" srcId="{52E27806-27D7-4F7E-AD99-5C0EDDD3FE54}" destId="{3ED9FBAC-FE1C-4F16-980B-F5D64E71D335}" srcOrd="0" destOrd="0" presId="urn:microsoft.com/office/officeart/2005/8/layout/vList2"/>
    <dgm:cxn modelId="{E2413A8F-D60B-4F45-8CB7-8C8964577202}" type="presOf" srcId="{371E5C6B-A5B3-4839-9A54-AA0B38FC5253}" destId="{8110509B-EA0A-4109-8CE4-7A4A659C4BC1}" srcOrd="0" destOrd="0" presId="urn:microsoft.com/office/officeart/2005/8/layout/vList2"/>
    <dgm:cxn modelId="{03CF88A0-35ED-419B-B2D1-62BCD4CE8CE2}" srcId="{E9549466-451C-45B7-A16E-2380E6956CCC}" destId="{E0214D9A-FF51-4030-AEF5-156703127643}" srcOrd="0" destOrd="0" parTransId="{69C2B48F-C386-4232-A625-2D6B0FDD31D6}" sibTransId="{7C76DC18-5AF7-4869-9641-6466D2F2874D}"/>
    <dgm:cxn modelId="{107EEBAA-3296-4CB9-8C7E-AC909B7BCAFC}" srcId="{E9549466-451C-45B7-A16E-2380E6956CCC}" destId="{52E27806-27D7-4F7E-AD99-5C0EDDD3FE54}" srcOrd="1" destOrd="0" parTransId="{DC71474A-AF4B-44DD-8C1D-4CEF028A69B2}" sibTransId="{48D4089D-8DE7-4ADA-AD2D-FB9C4F1635B5}"/>
    <dgm:cxn modelId="{F5655EB7-E3A6-4F7D-97C2-C7A03809C1B8}" type="presOf" srcId="{0B3A8BE2-054B-4054-9BCD-C4CF4115997B}" destId="{DE2C5D14-2B25-4B91-A33E-012A64D2F8FA}" srcOrd="0" destOrd="0" presId="urn:microsoft.com/office/officeart/2005/8/layout/vList2"/>
    <dgm:cxn modelId="{8D93DBBC-8673-4473-9016-E16339B22CD1}" srcId="{E9549466-451C-45B7-A16E-2380E6956CCC}" destId="{33106972-20C8-4097-A53B-D745F931E56A}" srcOrd="3" destOrd="0" parTransId="{8700970E-A55B-4FE6-A1C2-0A75BDCF4A52}" sibTransId="{AF1AB2BB-9835-443B-AE14-DB1BA0EBF024}"/>
    <dgm:cxn modelId="{9AAE3FC7-91B6-4B4A-9383-13E25D6B2B17}" type="presOf" srcId="{E0214D9A-FF51-4030-AEF5-156703127643}" destId="{98695D9D-5E35-418D-8A70-EA7753023E8D}" srcOrd="0" destOrd="0" presId="urn:microsoft.com/office/officeart/2005/8/layout/vList2"/>
    <dgm:cxn modelId="{579FD7D6-366B-487C-8538-75B702137FB9}" srcId="{E9549466-451C-45B7-A16E-2380E6956CCC}" destId="{0B3A8BE2-054B-4054-9BCD-C4CF4115997B}" srcOrd="4" destOrd="0" parTransId="{EB5A2797-51CA-4B99-B999-F840E3D3EA28}" sibTransId="{539548A2-9A6C-4EC3-80B4-B5B48ACBE926}"/>
    <dgm:cxn modelId="{289981FC-5B11-497B-A466-EE49C3E497CE}" type="presOf" srcId="{33106972-20C8-4097-A53B-D745F931E56A}" destId="{8A72D9E8-C1BB-4628-B85C-F67370CD6473}" srcOrd="0" destOrd="0" presId="urn:microsoft.com/office/officeart/2005/8/layout/vList2"/>
    <dgm:cxn modelId="{0AE036B2-39AF-48C8-BC51-48BF6D9C6661}" type="presParOf" srcId="{1AA94DD0-12CB-46D4-8783-6B73D69E4DC7}" destId="{98695D9D-5E35-418D-8A70-EA7753023E8D}" srcOrd="0" destOrd="0" presId="urn:microsoft.com/office/officeart/2005/8/layout/vList2"/>
    <dgm:cxn modelId="{69741A8D-744B-4D6A-8F0D-F8F74103C485}" type="presParOf" srcId="{1AA94DD0-12CB-46D4-8783-6B73D69E4DC7}" destId="{2C7E5AAC-49BB-4A93-9266-DF3C85B5B072}" srcOrd="1" destOrd="0" presId="urn:microsoft.com/office/officeart/2005/8/layout/vList2"/>
    <dgm:cxn modelId="{E3475201-97CB-47BB-8786-12F1A5EB8D0A}" type="presParOf" srcId="{1AA94DD0-12CB-46D4-8783-6B73D69E4DC7}" destId="{3ED9FBAC-FE1C-4F16-980B-F5D64E71D335}" srcOrd="2" destOrd="0" presId="urn:microsoft.com/office/officeart/2005/8/layout/vList2"/>
    <dgm:cxn modelId="{5CF4FCDE-8EC5-4089-A445-8EB416BD2EF5}" type="presParOf" srcId="{1AA94DD0-12CB-46D4-8783-6B73D69E4DC7}" destId="{0A9DB404-D581-4214-83C2-FE34E4B77F6B}" srcOrd="3" destOrd="0" presId="urn:microsoft.com/office/officeart/2005/8/layout/vList2"/>
    <dgm:cxn modelId="{04B2AFA7-F924-452A-A40F-9D900E25CF46}" type="presParOf" srcId="{1AA94DD0-12CB-46D4-8783-6B73D69E4DC7}" destId="{8110509B-EA0A-4109-8CE4-7A4A659C4BC1}" srcOrd="4" destOrd="0" presId="urn:microsoft.com/office/officeart/2005/8/layout/vList2"/>
    <dgm:cxn modelId="{5D830DC8-C823-40EC-8B81-C63A21AB4427}" type="presParOf" srcId="{1AA94DD0-12CB-46D4-8783-6B73D69E4DC7}" destId="{59B3926B-73E0-405E-8633-6A192CD6B88C}" srcOrd="5" destOrd="0" presId="urn:microsoft.com/office/officeart/2005/8/layout/vList2"/>
    <dgm:cxn modelId="{63D38999-1BDE-43B8-9D16-39CC7458F969}" type="presParOf" srcId="{1AA94DD0-12CB-46D4-8783-6B73D69E4DC7}" destId="{8A72D9E8-C1BB-4628-B85C-F67370CD6473}" srcOrd="6" destOrd="0" presId="urn:microsoft.com/office/officeart/2005/8/layout/vList2"/>
    <dgm:cxn modelId="{C3682097-2BA6-46FA-A76B-BFD11D49FDAC}" type="presParOf" srcId="{1AA94DD0-12CB-46D4-8783-6B73D69E4DC7}" destId="{1B66EC3C-A833-435B-BE3F-C54401044808}" srcOrd="7" destOrd="0" presId="urn:microsoft.com/office/officeart/2005/8/layout/vList2"/>
    <dgm:cxn modelId="{AD71DFE9-80C5-40AA-8BE5-44DE9EED42CD}" type="presParOf" srcId="{1AA94DD0-12CB-46D4-8783-6B73D69E4DC7}" destId="{DE2C5D14-2B25-4B91-A33E-012A64D2F8FA}"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95D9D-5E35-418D-8A70-EA7753023E8D}">
      <dsp:nvSpPr>
        <dsp:cNvPr id="0" name=""/>
        <dsp:cNvSpPr/>
      </dsp:nvSpPr>
      <dsp:spPr>
        <a:xfrm>
          <a:off x="0" y="337277"/>
          <a:ext cx="11201399" cy="743162"/>
        </a:xfrm>
        <a:prstGeom prst="roundRect">
          <a:avLst/>
        </a:prstGeom>
        <a:gradFill rotWithShape="0">
          <a:gsLst>
            <a:gs pos="0">
              <a:schemeClr val="accent1">
                <a:hueOff val="0"/>
                <a:satOff val="0"/>
                <a:lumOff val="0"/>
                <a:alphaOff val="0"/>
                <a:tint val="98000"/>
                <a:hueMod val="94000"/>
                <a:satMod val="130000"/>
                <a:lumMod val="128000"/>
              </a:schemeClr>
            </a:gs>
            <a:gs pos="100000">
              <a:schemeClr val="accent1">
                <a:hueOff val="0"/>
                <a:satOff val="0"/>
                <a:lumOff val="0"/>
                <a:alphaOff val="0"/>
                <a:shade val="94000"/>
                <a:lumMod val="88000"/>
              </a:schemeClr>
            </a:gs>
          </a:gsLst>
          <a:lin ang="5400000" scaled="0"/>
        </a:grad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1" u="none" kern="1200" dirty="0"/>
            <a:t>Level   </a:t>
          </a:r>
          <a:r>
            <a:rPr lang="en-US" sz="1500" b="1" i="1" u="sng" kern="1200" dirty="0"/>
            <a:t> </a:t>
          </a:r>
          <a:r>
            <a:rPr lang="en-US" sz="1500" b="1" i="1" u="none" kern="1200" dirty="0"/>
            <a:t>Type                 </a:t>
          </a:r>
          <a:r>
            <a:rPr lang="en-US" sz="1500" b="1" i="1" u="sng" kern="1200" dirty="0"/>
            <a:t> </a:t>
          </a:r>
          <a:r>
            <a:rPr lang="en-US" sz="1500" b="1" i="1" u="none" kern="1200" dirty="0"/>
            <a:t>Question Answered                                 Example</a:t>
          </a:r>
          <a:endParaRPr lang="en-IN" sz="1500" b="1" i="1" u="none" kern="1200" dirty="0"/>
        </a:p>
      </dsp:txBody>
      <dsp:txXfrm>
        <a:off x="36278" y="373555"/>
        <a:ext cx="11128843" cy="670606"/>
      </dsp:txXfrm>
    </dsp:sp>
    <dsp:sp modelId="{3ED9FBAC-FE1C-4F16-980B-F5D64E71D335}">
      <dsp:nvSpPr>
        <dsp:cNvPr id="0" name=""/>
        <dsp:cNvSpPr/>
      </dsp:nvSpPr>
      <dsp:spPr>
        <a:xfrm>
          <a:off x="0" y="1163959"/>
          <a:ext cx="11201399" cy="773467"/>
        </a:xfrm>
        <a:prstGeom prst="roundRect">
          <a:avLst/>
        </a:prstGeom>
        <a:gradFill rotWithShape="0">
          <a:gsLst>
            <a:gs pos="0">
              <a:schemeClr val="accent1">
                <a:hueOff val="0"/>
                <a:satOff val="0"/>
                <a:lumOff val="0"/>
                <a:alphaOff val="0"/>
                <a:tint val="98000"/>
                <a:hueMod val="94000"/>
                <a:satMod val="130000"/>
                <a:lumMod val="128000"/>
              </a:schemeClr>
            </a:gs>
            <a:gs pos="100000">
              <a:schemeClr val="accent1">
                <a:hueOff val="0"/>
                <a:satOff val="0"/>
                <a:lumOff val="0"/>
                <a:alphaOff val="0"/>
                <a:shade val="94000"/>
                <a:lumMod val="88000"/>
              </a:schemeClr>
            </a:gs>
          </a:gsLst>
          <a:lin ang="5400000" scaled="0"/>
        </a:grad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1.         Descriptive        What happened?                       What was our turnover rate last year?</a:t>
          </a:r>
          <a:endParaRPr lang="en-IN" sz="1500" kern="1200" dirty="0"/>
        </a:p>
      </dsp:txBody>
      <dsp:txXfrm>
        <a:off x="37758" y="1201717"/>
        <a:ext cx="11125883" cy="697951"/>
      </dsp:txXfrm>
    </dsp:sp>
    <dsp:sp modelId="{8110509B-EA0A-4109-8CE4-7A4A659C4BC1}">
      <dsp:nvSpPr>
        <dsp:cNvPr id="0" name=""/>
        <dsp:cNvSpPr/>
      </dsp:nvSpPr>
      <dsp:spPr>
        <a:xfrm>
          <a:off x="0" y="2020946"/>
          <a:ext cx="11201399" cy="743023"/>
        </a:xfrm>
        <a:prstGeom prst="roundRect">
          <a:avLst/>
        </a:prstGeom>
        <a:gradFill rotWithShape="0">
          <a:gsLst>
            <a:gs pos="0">
              <a:schemeClr val="accent1">
                <a:hueOff val="0"/>
                <a:satOff val="0"/>
                <a:lumOff val="0"/>
                <a:alphaOff val="0"/>
                <a:tint val="98000"/>
                <a:hueMod val="94000"/>
                <a:satMod val="130000"/>
                <a:lumMod val="128000"/>
              </a:schemeClr>
            </a:gs>
            <a:gs pos="100000">
              <a:schemeClr val="accent1">
                <a:hueOff val="0"/>
                <a:satOff val="0"/>
                <a:lumOff val="0"/>
                <a:alphaOff val="0"/>
                <a:shade val="94000"/>
                <a:lumMod val="88000"/>
              </a:schemeClr>
            </a:gs>
          </a:gsLst>
          <a:lin ang="5400000" scaled="0"/>
        </a:grad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2.         Diagnostic         Why did it happen?                   Why are employees leaving the sales department?</a:t>
          </a:r>
          <a:endParaRPr lang="en-IN" sz="1500" kern="1200" dirty="0"/>
        </a:p>
      </dsp:txBody>
      <dsp:txXfrm>
        <a:off x="36271" y="2057217"/>
        <a:ext cx="11128857" cy="670481"/>
      </dsp:txXfrm>
    </dsp:sp>
    <dsp:sp modelId="{8A72D9E8-C1BB-4628-B85C-F67370CD6473}">
      <dsp:nvSpPr>
        <dsp:cNvPr id="0" name=""/>
        <dsp:cNvSpPr/>
      </dsp:nvSpPr>
      <dsp:spPr>
        <a:xfrm>
          <a:off x="0" y="2847490"/>
          <a:ext cx="11201399" cy="688261"/>
        </a:xfrm>
        <a:prstGeom prst="roundRect">
          <a:avLst/>
        </a:prstGeom>
        <a:gradFill rotWithShape="0">
          <a:gsLst>
            <a:gs pos="0">
              <a:schemeClr val="accent1">
                <a:hueOff val="0"/>
                <a:satOff val="0"/>
                <a:lumOff val="0"/>
                <a:alphaOff val="0"/>
                <a:tint val="98000"/>
                <a:hueMod val="94000"/>
                <a:satMod val="130000"/>
                <a:lumMod val="128000"/>
              </a:schemeClr>
            </a:gs>
            <a:gs pos="100000">
              <a:schemeClr val="accent1">
                <a:hueOff val="0"/>
                <a:satOff val="0"/>
                <a:lumOff val="0"/>
                <a:alphaOff val="0"/>
                <a:shade val="94000"/>
                <a:lumMod val="88000"/>
              </a:schemeClr>
            </a:gs>
          </a:gsLst>
          <a:lin ang="5400000" scaled="0"/>
        </a:grad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3.        Predictive        What will happen?                       Which high-performing employees are at risk of leaving?</a:t>
          </a:r>
          <a:endParaRPr lang="en-IN" sz="1500" kern="1200" dirty="0"/>
        </a:p>
      </dsp:txBody>
      <dsp:txXfrm>
        <a:off x="33598" y="2881088"/>
        <a:ext cx="11134203" cy="621065"/>
      </dsp:txXfrm>
    </dsp:sp>
    <dsp:sp modelId="{DE2C5D14-2B25-4B91-A33E-012A64D2F8FA}">
      <dsp:nvSpPr>
        <dsp:cNvPr id="0" name=""/>
        <dsp:cNvSpPr/>
      </dsp:nvSpPr>
      <dsp:spPr>
        <a:xfrm rot="10800000" flipV="1">
          <a:off x="0" y="3676400"/>
          <a:ext cx="11201399" cy="607830"/>
        </a:xfrm>
        <a:prstGeom prst="roundRect">
          <a:avLst/>
        </a:prstGeom>
        <a:gradFill rotWithShape="0">
          <a:gsLst>
            <a:gs pos="0">
              <a:schemeClr val="accent1">
                <a:hueOff val="0"/>
                <a:satOff val="0"/>
                <a:lumOff val="0"/>
                <a:alphaOff val="0"/>
                <a:tint val="98000"/>
                <a:hueMod val="94000"/>
                <a:satMod val="130000"/>
                <a:lumMod val="128000"/>
              </a:schemeClr>
            </a:gs>
            <a:gs pos="100000">
              <a:schemeClr val="accent1">
                <a:hueOff val="0"/>
                <a:satOff val="0"/>
                <a:lumOff val="0"/>
                <a:alphaOff val="0"/>
                <a:shade val="94000"/>
                <a:lumMod val="88000"/>
              </a:schemeClr>
            </a:gs>
          </a:gsLst>
          <a:lin ang="5400000" scaled="0"/>
        </a:grad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4.         Prescriptive     How can we make it happen?     What specific bonus structure will increase retention by 20%?</a:t>
          </a:r>
          <a:endParaRPr lang="en-IN" sz="1500" kern="1200" dirty="0"/>
        </a:p>
      </dsp:txBody>
      <dsp:txXfrm rot="-10800000">
        <a:off x="29672" y="3706072"/>
        <a:ext cx="11142055" cy="5484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20210-4925-4705-857B-152A1D71C255}"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74F690-9136-4BA7-BF82-86CF27538187}" type="slidenum">
              <a:rPr lang="en-IN" smtClean="0"/>
              <a:t>‹#›</a:t>
            </a:fld>
            <a:endParaRPr lang="en-IN"/>
          </a:p>
        </p:txBody>
      </p:sp>
    </p:spTree>
    <p:extLst>
      <p:ext uri="{BB962C8B-B14F-4D97-AF65-F5344CB8AC3E}">
        <p14:creationId xmlns:p14="http://schemas.microsoft.com/office/powerpoint/2010/main" val="2650629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8433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2053436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1931167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3ADDEE-F2C1-47F5-BEE2-901EB20832DC}"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1448130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3ADDEE-F2C1-47F5-BEE2-901EB20832DC}" type="datetimeFigureOut">
              <a:rPr lang="en-IN" smtClean="0"/>
              <a:t>10-03-2026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3177844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3ADDEE-F2C1-47F5-BEE2-901EB20832DC}" type="datetimeFigureOut">
              <a:rPr lang="en-IN" smtClean="0"/>
              <a:t>10-03-2026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2374726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3ADDEE-F2C1-47F5-BEE2-901EB20832DC}" type="datetimeFigureOut">
              <a:rPr lang="en-IN" smtClean="0"/>
              <a:t>10-03-2026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1437035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3ADDEE-F2C1-47F5-BEE2-901EB20832DC}"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4187462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3ADDEE-F2C1-47F5-BEE2-901EB20832DC}"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3797670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E43ADDEE-F2C1-47F5-BEE2-901EB20832DC}" type="datetimeFigureOut">
              <a:rPr lang="en-IN" smtClean="0"/>
              <a:t>10-03-2026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1138363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2839020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959587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4189280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3466319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928657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1263878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3ADDEE-F2C1-47F5-BEE2-901EB20832DC}"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53D141-2857-4C24-9D73-95C62694494D}" type="slidenum">
              <a:rPr lang="en-IN" smtClean="0"/>
              <a:t>‹#›</a:t>
            </a:fld>
            <a:endParaRPr lang="en-IN"/>
          </a:p>
        </p:txBody>
      </p:sp>
    </p:spTree>
    <p:extLst>
      <p:ext uri="{BB962C8B-B14F-4D97-AF65-F5344CB8AC3E}">
        <p14:creationId xmlns:p14="http://schemas.microsoft.com/office/powerpoint/2010/main" val="282690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43ADDEE-F2C1-47F5-BEE2-901EB20832DC}" type="datetimeFigureOut">
              <a:rPr lang="en-IN" smtClean="0"/>
              <a:t>10-03-2026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6B53D141-2857-4C24-9D73-95C62694494D}" type="slidenum">
              <a:rPr lang="en-IN" smtClean="0"/>
              <a:t>‹#›</a:t>
            </a:fld>
            <a:endParaRPr lang="en-IN"/>
          </a:p>
        </p:txBody>
      </p:sp>
    </p:spTree>
    <p:extLst>
      <p:ext uri="{BB962C8B-B14F-4D97-AF65-F5344CB8AC3E}">
        <p14:creationId xmlns:p14="http://schemas.microsoft.com/office/powerpoint/2010/main" val="3579639294"/>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3E863-CDB6-1EE4-80A6-1384D91E31EC}"/>
              </a:ext>
            </a:extLst>
          </p:cNvPr>
          <p:cNvSpPr>
            <a:spLocks noGrp="1"/>
          </p:cNvSpPr>
          <p:nvPr>
            <p:ph type="ctrTitle"/>
          </p:nvPr>
        </p:nvSpPr>
        <p:spPr>
          <a:xfrm>
            <a:off x="448235" y="1667435"/>
            <a:ext cx="5513294" cy="1013012"/>
          </a:xfrm>
        </p:spPr>
        <p:txBody>
          <a:bodyPr>
            <a:noAutofit/>
          </a:bodyPr>
          <a:lstStyle/>
          <a:p>
            <a:pPr algn="l"/>
            <a:r>
              <a:rPr lang="en-US" sz="6000" b="1" u="sng" dirty="0" err="1">
                <a:solidFill>
                  <a:schemeClr val="bg1"/>
                </a:solidFill>
                <a:latin typeface="Algerian" panose="04020705040A02060702" pitchFamily="82" charset="0"/>
                <a:cs typeface="Arial" panose="020B0604020202020204" pitchFamily="34" charset="0"/>
              </a:rPr>
              <a:t>Hr</a:t>
            </a:r>
            <a:r>
              <a:rPr lang="en-US" sz="6000" b="1" u="sng" dirty="0">
                <a:solidFill>
                  <a:schemeClr val="bg1"/>
                </a:solidFill>
                <a:latin typeface="Algerian" panose="04020705040A02060702" pitchFamily="82" charset="0"/>
                <a:cs typeface="Arial" panose="020B0604020202020204" pitchFamily="34" charset="0"/>
              </a:rPr>
              <a:t> analytics</a:t>
            </a:r>
            <a:endParaRPr lang="en-IN" sz="6000" b="1" u="sng" dirty="0">
              <a:solidFill>
                <a:schemeClr val="bg1"/>
              </a:solidFill>
              <a:latin typeface="Algerian" panose="04020705040A02060702" pitchFamily="82" charset="0"/>
              <a:cs typeface="Arial" panose="020B0604020202020204" pitchFamily="34" charset="0"/>
            </a:endParaRPr>
          </a:p>
        </p:txBody>
      </p:sp>
      <p:pic>
        <p:nvPicPr>
          <p:cNvPr id="5" name="Picture 4">
            <a:extLst>
              <a:ext uri="{FF2B5EF4-FFF2-40B4-BE49-F238E27FC236}">
                <a16:creationId xmlns:a16="http://schemas.microsoft.com/office/drawing/2014/main" id="{0F21A3C4-E9F3-67A6-7DE4-F8E40C4CCCB3}"/>
              </a:ext>
            </a:extLst>
          </p:cNvPr>
          <p:cNvPicPr>
            <a:picLocks noChangeAspect="1"/>
          </p:cNvPicPr>
          <p:nvPr/>
        </p:nvPicPr>
        <p:blipFill>
          <a:blip r:embed="rId2">
            <a:extLst>
              <a:ext uri="{28A0092B-C50C-407E-A947-70E740481C1C}">
                <a14:useLocalDpi xmlns:a14="http://schemas.microsoft.com/office/drawing/2010/main" val="0"/>
              </a:ext>
            </a:extLst>
          </a:blip>
          <a:srcRect l="14786" r="16667"/>
          <a:stretch>
            <a:fillRect/>
          </a:stretch>
        </p:blipFill>
        <p:spPr>
          <a:xfrm>
            <a:off x="6096000" y="0"/>
            <a:ext cx="6096000" cy="6858000"/>
          </a:xfrm>
          <a:prstGeom prst="rect">
            <a:avLst/>
          </a:prstGeom>
          <a:ln>
            <a:solidFill>
              <a:schemeClr val="bg1"/>
            </a:solidFill>
          </a:ln>
          <a:effectLst>
            <a:outerShdw blurRad="50800" dist="38100" dir="2700000" algn="tl" rotWithShape="0">
              <a:prstClr val="black">
                <a:alpha val="40000"/>
              </a:prstClr>
            </a:outerShdw>
          </a:effectLst>
        </p:spPr>
      </p:pic>
      <p:sp>
        <p:nvSpPr>
          <p:cNvPr id="8" name="Title 1">
            <a:extLst>
              <a:ext uri="{FF2B5EF4-FFF2-40B4-BE49-F238E27FC236}">
                <a16:creationId xmlns:a16="http://schemas.microsoft.com/office/drawing/2014/main" id="{CEE36C57-74C6-90C1-1206-27679859BF69}"/>
              </a:ext>
            </a:extLst>
          </p:cNvPr>
          <p:cNvSpPr txBox="1">
            <a:spLocks/>
          </p:cNvSpPr>
          <p:nvPr/>
        </p:nvSpPr>
        <p:spPr>
          <a:xfrm>
            <a:off x="510989" y="2568388"/>
            <a:ext cx="5585011" cy="1385047"/>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bg1"/>
                </a:solidFill>
                <a:latin typeface="Elephant" panose="02020904090505020303" pitchFamily="18" charset="0"/>
                <a:cs typeface="Arial" panose="020B0604020202020204" pitchFamily="34" charset="0"/>
              </a:rPr>
              <a:t>Project Group 5</a:t>
            </a:r>
            <a:endParaRPr lang="en-IN" sz="3600" b="1" dirty="0">
              <a:solidFill>
                <a:schemeClr val="bg1"/>
              </a:solidFill>
              <a:latin typeface="Elephant" panose="02020904090505020303" pitchFamily="18" charset="0"/>
              <a:cs typeface="Arial" panose="020B0604020202020204" pitchFamily="34" charset="0"/>
            </a:endParaRPr>
          </a:p>
        </p:txBody>
      </p:sp>
    </p:spTree>
    <p:extLst>
      <p:ext uri="{BB962C8B-B14F-4D97-AF65-F5344CB8AC3E}">
        <p14:creationId xmlns:p14="http://schemas.microsoft.com/office/powerpoint/2010/main" val="3053266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9654E593-5E08-FFE3-0172-BF18E9EFE390}"/>
              </a:ext>
            </a:extLst>
          </p:cNvPr>
          <p:cNvSpPr txBox="1">
            <a:spLocks/>
          </p:cNvSpPr>
          <p:nvPr/>
        </p:nvSpPr>
        <p:spPr>
          <a:xfrm>
            <a:off x="932330" y="1488141"/>
            <a:ext cx="4446495" cy="4930588"/>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None/>
            </a:pPr>
            <a:r>
              <a:rPr lang="en-US" sz="2400" dirty="0">
                <a:solidFill>
                  <a:schemeClr val="bg1"/>
                </a:solidFill>
                <a:latin typeface="Elephant" panose="02020904090505020303" pitchFamily="18" charset="0"/>
              </a:rPr>
              <a:t>1. Bhakti Ravindra Prabhu</a:t>
            </a:r>
          </a:p>
          <a:p>
            <a:pPr marL="0" indent="0">
              <a:buNone/>
            </a:pPr>
            <a:r>
              <a:rPr lang="en-US" sz="2400" dirty="0">
                <a:solidFill>
                  <a:schemeClr val="bg1"/>
                </a:solidFill>
                <a:latin typeface="Elephant" panose="02020904090505020303" pitchFamily="18" charset="0"/>
              </a:rPr>
              <a:t>2. Charan </a:t>
            </a:r>
            <a:r>
              <a:rPr lang="en-US" sz="2400" dirty="0" err="1">
                <a:solidFill>
                  <a:schemeClr val="bg1"/>
                </a:solidFill>
                <a:latin typeface="Elephant" panose="02020904090505020303" pitchFamily="18" charset="0"/>
              </a:rPr>
              <a:t>Somanna</a:t>
            </a:r>
            <a:r>
              <a:rPr lang="en-US" sz="2400" dirty="0">
                <a:solidFill>
                  <a:schemeClr val="bg1"/>
                </a:solidFill>
                <a:latin typeface="Elephant" panose="02020904090505020303" pitchFamily="18" charset="0"/>
              </a:rPr>
              <a:t> P S</a:t>
            </a:r>
          </a:p>
          <a:p>
            <a:pPr marL="0" indent="0">
              <a:buNone/>
            </a:pPr>
            <a:r>
              <a:rPr lang="en-US" sz="2400" dirty="0">
                <a:solidFill>
                  <a:schemeClr val="bg1"/>
                </a:solidFill>
                <a:latin typeface="Elephant" panose="02020904090505020303" pitchFamily="18" charset="0"/>
              </a:rPr>
              <a:t>3. Dipali Mane</a:t>
            </a:r>
          </a:p>
          <a:p>
            <a:pPr marL="0" indent="0">
              <a:buNone/>
            </a:pPr>
            <a:r>
              <a:rPr lang="en-US" sz="2400" dirty="0">
                <a:solidFill>
                  <a:schemeClr val="bg1"/>
                </a:solidFill>
                <a:latin typeface="Elephant" panose="02020904090505020303" pitchFamily="18" charset="0"/>
              </a:rPr>
              <a:t>4. Kasina Sasi Naga Sai</a:t>
            </a:r>
          </a:p>
          <a:p>
            <a:pPr marL="0" indent="0">
              <a:buNone/>
            </a:pPr>
            <a:r>
              <a:rPr lang="en-US" sz="2400" dirty="0">
                <a:solidFill>
                  <a:schemeClr val="bg1"/>
                </a:solidFill>
                <a:latin typeface="Elephant" panose="02020904090505020303" pitchFamily="18" charset="0"/>
              </a:rPr>
              <a:t>5. Nikita Chetan Surve</a:t>
            </a:r>
          </a:p>
          <a:p>
            <a:pPr marL="0" indent="0">
              <a:buNone/>
            </a:pPr>
            <a:r>
              <a:rPr lang="en-US" sz="2400" dirty="0">
                <a:solidFill>
                  <a:schemeClr val="bg1"/>
                </a:solidFill>
                <a:latin typeface="Elephant" panose="02020904090505020303" pitchFamily="18" charset="0"/>
              </a:rPr>
              <a:t>6. Ritesh  </a:t>
            </a:r>
            <a:r>
              <a:rPr lang="en-US" sz="2400" dirty="0" err="1">
                <a:solidFill>
                  <a:schemeClr val="bg1"/>
                </a:solidFill>
                <a:latin typeface="Elephant" panose="02020904090505020303" pitchFamily="18" charset="0"/>
              </a:rPr>
              <a:t>Sarjerao</a:t>
            </a:r>
            <a:r>
              <a:rPr lang="en-US" sz="2400" dirty="0">
                <a:solidFill>
                  <a:schemeClr val="bg1"/>
                </a:solidFill>
                <a:latin typeface="Elephant" panose="02020904090505020303" pitchFamily="18" charset="0"/>
              </a:rPr>
              <a:t>  Walke</a:t>
            </a:r>
          </a:p>
          <a:p>
            <a:pPr marL="0" indent="0">
              <a:buNone/>
            </a:pPr>
            <a:r>
              <a:rPr lang="en-US" sz="2400" dirty="0">
                <a:solidFill>
                  <a:schemeClr val="bg1"/>
                </a:solidFill>
                <a:latin typeface="Elephant" panose="02020904090505020303" pitchFamily="18" charset="0"/>
              </a:rPr>
              <a:t>7. Shubham Bansi Sable</a:t>
            </a:r>
          </a:p>
          <a:p>
            <a:endParaRPr lang="en-US" sz="2400" dirty="0">
              <a:solidFill>
                <a:schemeClr val="bg1"/>
              </a:solidFill>
              <a:latin typeface="Elephant" panose="02020904090505020303" pitchFamily="18" charset="0"/>
            </a:endParaRPr>
          </a:p>
          <a:p>
            <a:pPr algn="ctr"/>
            <a:endParaRPr lang="en-US" sz="2400" dirty="0">
              <a:solidFill>
                <a:schemeClr val="bg1"/>
              </a:solidFill>
              <a:latin typeface="Elephant" panose="02020904090505020303" pitchFamily="18" charset="0"/>
            </a:endParaRPr>
          </a:p>
        </p:txBody>
      </p:sp>
      <p:sp>
        <p:nvSpPr>
          <p:cNvPr id="5" name="Title 1">
            <a:extLst>
              <a:ext uri="{FF2B5EF4-FFF2-40B4-BE49-F238E27FC236}">
                <a16:creationId xmlns:a16="http://schemas.microsoft.com/office/drawing/2014/main" id="{8AAEEFAF-2EA8-40A1-E31C-22BB98B4A9C9}"/>
              </a:ext>
            </a:extLst>
          </p:cNvPr>
          <p:cNvSpPr>
            <a:spLocks noGrp="1"/>
          </p:cNvSpPr>
          <p:nvPr>
            <p:ph type="title"/>
          </p:nvPr>
        </p:nvSpPr>
        <p:spPr>
          <a:xfrm>
            <a:off x="932330" y="714060"/>
            <a:ext cx="4556656" cy="974110"/>
          </a:xfrm>
        </p:spPr>
        <p:txBody>
          <a:bodyPr>
            <a:noAutofit/>
          </a:bodyPr>
          <a:lstStyle/>
          <a:p>
            <a:r>
              <a:rPr lang="en-US" sz="3200" b="1" dirty="0">
                <a:solidFill>
                  <a:schemeClr val="bg1"/>
                </a:solidFill>
                <a:latin typeface="Rockwell Extra Bold" panose="02060903040505020403" pitchFamily="18" charset="0"/>
              </a:rPr>
              <a:t>Group Members</a:t>
            </a:r>
            <a:br>
              <a:rPr lang="en-US" sz="3200" dirty="0">
                <a:solidFill>
                  <a:schemeClr val="bg1"/>
                </a:solidFill>
                <a:latin typeface="Rockwell Extra Bold" panose="02060903040505020403" pitchFamily="18" charset="0"/>
              </a:rPr>
            </a:br>
            <a:endParaRPr lang="en-IN" sz="3200" dirty="0">
              <a:latin typeface="Rockwell Extra Bold" panose="02060903040505020403" pitchFamily="18" charset="0"/>
            </a:endParaRPr>
          </a:p>
        </p:txBody>
      </p:sp>
      <p:pic>
        <p:nvPicPr>
          <p:cNvPr id="6" name="Graphic 5" descr="Thought bubble">
            <a:extLst>
              <a:ext uri="{FF2B5EF4-FFF2-40B4-BE49-F238E27FC236}">
                <a16:creationId xmlns:a16="http://schemas.microsoft.com/office/drawing/2014/main" id="{6840C7A6-3A96-6F82-B33A-145CDA2EAF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55777" y="1135786"/>
            <a:ext cx="2113384" cy="2113384"/>
          </a:xfrm>
          <a:prstGeom prst="rect">
            <a:avLst/>
          </a:prstGeom>
        </p:spPr>
      </p:pic>
      <p:pic>
        <p:nvPicPr>
          <p:cNvPr id="7" name="Graphic 6" descr="Meeting">
            <a:extLst>
              <a:ext uri="{FF2B5EF4-FFF2-40B4-BE49-F238E27FC236}">
                <a16:creationId xmlns:a16="http://schemas.microsoft.com/office/drawing/2014/main" id="{10B961A7-DAFD-B7EF-F7A9-B5F52CA4BD9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14314" y="2322133"/>
            <a:ext cx="3262604" cy="3262604"/>
          </a:xfrm>
          <a:prstGeom prst="rect">
            <a:avLst/>
          </a:prstGeom>
        </p:spPr>
      </p:pic>
      <p:pic>
        <p:nvPicPr>
          <p:cNvPr id="8" name="Graphic 7" descr="Lightbulb">
            <a:extLst>
              <a:ext uri="{FF2B5EF4-FFF2-40B4-BE49-F238E27FC236}">
                <a16:creationId xmlns:a16="http://schemas.microsoft.com/office/drawing/2014/main" id="{8C7A75A5-2A9E-8ADF-44B1-7B3F59A92D8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61405" y="1616453"/>
            <a:ext cx="702127" cy="702127"/>
          </a:xfrm>
          <a:prstGeom prst="rect">
            <a:avLst/>
          </a:prstGeom>
        </p:spPr>
      </p:pic>
    </p:spTree>
    <p:extLst>
      <p:ext uri="{BB962C8B-B14F-4D97-AF65-F5344CB8AC3E}">
        <p14:creationId xmlns:p14="http://schemas.microsoft.com/office/powerpoint/2010/main" val="186082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58824-8F09-2C5D-9EA2-A3A40BF091B5}"/>
              </a:ext>
            </a:extLst>
          </p:cNvPr>
          <p:cNvSpPr>
            <a:spLocks noGrp="1"/>
          </p:cNvSpPr>
          <p:nvPr>
            <p:ph idx="1"/>
          </p:nvPr>
        </p:nvSpPr>
        <p:spPr>
          <a:xfrm>
            <a:off x="484094" y="2671482"/>
            <a:ext cx="11196918" cy="3290047"/>
          </a:xfrm>
        </p:spPr>
        <p:txBody>
          <a:bodyPr>
            <a:normAutofit/>
          </a:bodyPr>
          <a:lstStyle/>
          <a:p>
            <a:pPr marL="0" indent="0">
              <a:buNone/>
            </a:pPr>
            <a:r>
              <a:rPr lang="en-US" sz="2400" b="1" dirty="0">
                <a:solidFill>
                  <a:schemeClr val="bg1"/>
                </a:solidFill>
                <a:latin typeface="Times New Roman" panose="02020603050405020304" pitchFamily="18" charset="0"/>
                <a:cs typeface="Times New Roman" panose="02020603050405020304" pitchFamily="18" charset="0"/>
              </a:rPr>
              <a:t>HR ANALYTICS (also known as People Analytics or Workforce Analytics) is the process of collecting, analyzing, and reporting HR data to improve an organization’s performance. Instead of relying on "gut feelings" or traditional intuition, HR professionals use data to make evidence-based decisions regarding their workforce.</a:t>
            </a:r>
          </a:p>
          <a:p>
            <a:pPr marL="0" indent="0">
              <a:buNone/>
            </a:pPr>
            <a:r>
              <a:rPr lang="en-US" sz="2400" b="1" dirty="0">
                <a:solidFill>
                  <a:schemeClr val="bg1"/>
                </a:solidFill>
                <a:latin typeface="Times New Roman" panose="02020603050405020304" pitchFamily="18" charset="0"/>
                <a:cs typeface="Times New Roman" panose="02020603050405020304" pitchFamily="18" charset="0"/>
              </a:rPr>
              <a:t>At its core, it bridges the gap between Human Resources and Data Science, turning raw employee data into actionable insights that can predict future trends.</a:t>
            </a:r>
            <a:endParaRPr lang="en-IN" sz="2400" b="1"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C6251E-6869-E62A-2CE3-EF3AF1C40DD8}"/>
              </a:ext>
            </a:extLst>
          </p:cNvPr>
          <p:cNvPicPr>
            <a:picLocks noChangeAspect="1"/>
          </p:cNvPicPr>
          <p:nvPr/>
        </p:nvPicPr>
        <p:blipFill>
          <a:blip r:embed="rId2">
            <a:extLst>
              <a:ext uri="{28A0092B-C50C-407E-A947-70E740481C1C}">
                <a14:useLocalDpi xmlns:a14="http://schemas.microsoft.com/office/drawing/2010/main" val="0"/>
              </a:ext>
            </a:extLst>
          </a:blip>
          <a:srcRect t="12880" b="21656"/>
          <a:stretch>
            <a:fillRect/>
          </a:stretch>
        </p:blipFill>
        <p:spPr>
          <a:xfrm>
            <a:off x="0" y="0"/>
            <a:ext cx="12192000" cy="2554941"/>
          </a:xfrm>
          <a:prstGeom prst="rect">
            <a:avLst/>
          </a:prstGeom>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06592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0E9B-26D6-C8D4-7E54-9EAA59653EC1}"/>
              </a:ext>
            </a:extLst>
          </p:cNvPr>
          <p:cNvSpPr>
            <a:spLocks noGrp="1"/>
          </p:cNvSpPr>
          <p:nvPr>
            <p:ph type="title"/>
          </p:nvPr>
        </p:nvSpPr>
        <p:spPr>
          <a:xfrm>
            <a:off x="1101538" y="644375"/>
            <a:ext cx="9988924" cy="549275"/>
          </a:xfrm>
        </p:spPr>
        <p:txBody>
          <a:bodyPr>
            <a:normAutofit fontScale="90000"/>
          </a:bodyPr>
          <a:lstStyle/>
          <a:p>
            <a:pPr algn="ctr"/>
            <a:r>
              <a:rPr lang="en-US" b="1" u="sng" dirty="0">
                <a:solidFill>
                  <a:schemeClr val="accent1">
                    <a:lumMod val="50000"/>
                  </a:schemeClr>
                </a:solidFill>
                <a:latin typeface="Bodoni MT Black" panose="02070A03080606020203" pitchFamily="18" charset="0"/>
              </a:rPr>
              <a:t>The Four Levels of Analytics</a:t>
            </a:r>
            <a:endParaRPr lang="en-IN" b="1" u="sng" dirty="0">
              <a:solidFill>
                <a:schemeClr val="accent1">
                  <a:lumMod val="50000"/>
                </a:schemeClr>
              </a:solidFill>
              <a:latin typeface="Bodoni MT Black" panose="02070A03080606020203" pitchFamily="18" charset="0"/>
            </a:endParaRPr>
          </a:p>
        </p:txBody>
      </p:sp>
      <p:graphicFrame>
        <p:nvGraphicFramePr>
          <p:cNvPr id="5" name="Content Placeholder 4">
            <a:extLst>
              <a:ext uri="{FF2B5EF4-FFF2-40B4-BE49-F238E27FC236}">
                <a16:creationId xmlns:a16="http://schemas.microsoft.com/office/drawing/2014/main" id="{0F374354-3734-C4D3-75E1-F2ED3767334F}"/>
              </a:ext>
            </a:extLst>
          </p:cNvPr>
          <p:cNvGraphicFramePr>
            <a:graphicFrameLocks noGrp="1"/>
          </p:cNvGraphicFramePr>
          <p:nvPr>
            <p:ph idx="1"/>
            <p:extLst>
              <p:ext uri="{D42A27DB-BD31-4B8C-83A1-F6EECF244321}">
                <p14:modId xmlns:p14="http://schemas.microsoft.com/office/powerpoint/2010/main" val="4032239048"/>
              </p:ext>
            </p:extLst>
          </p:nvPr>
        </p:nvGraphicFramePr>
        <p:xfrm>
          <a:off x="411480" y="1264920"/>
          <a:ext cx="11201400" cy="45643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3937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9AFB-7637-91E8-AD6E-616ABD4F089C}"/>
              </a:ext>
            </a:extLst>
          </p:cNvPr>
          <p:cNvSpPr>
            <a:spLocks noGrp="1"/>
          </p:cNvSpPr>
          <p:nvPr>
            <p:ph type="title"/>
          </p:nvPr>
        </p:nvSpPr>
        <p:spPr>
          <a:xfrm>
            <a:off x="838200" y="949313"/>
            <a:ext cx="10515600" cy="521843"/>
          </a:xfrm>
        </p:spPr>
        <p:txBody>
          <a:bodyPr>
            <a:noAutofit/>
          </a:bodyPr>
          <a:lstStyle/>
          <a:p>
            <a:pPr algn="ctr"/>
            <a:r>
              <a:rPr lang="en-IN" sz="4000" dirty="0">
                <a:solidFill>
                  <a:schemeClr val="accent1">
                    <a:lumMod val="50000"/>
                  </a:schemeClr>
                </a:solidFill>
                <a:latin typeface="Britannic Bold" panose="020B0903060703020204" pitchFamily="34" charset="0"/>
              </a:rPr>
              <a:t>Key Components &amp; Tools</a:t>
            </a:r>
          </a:p>
        </p:txBody>
      </p:sp>
      <p:sp>
        <p:nvSpPr>
          <p:cNvPr id="4" name="Content Placeholder 3">
            <a:extLst>
              <a:ext uri="{FF2B5EF4-FFF2-40B4-BE49-F238E27FC236}">
                <a16:creationId xmlns:a16="http://schemas.microsoft.com/office/drawing/2014/main" id="{0D538773-B3B4-E39B-21CA-28F8474CF664}"/>
              </a:ext>
            </a:extLst>
          </p:cNvPr>
          <p:cNvSpPr>
            <a:spLocks noGrp="1"/>
          </p:cNvSpPr>
          <p:nvPr>
            <p:ph idx="1"/>
          </p:nvPr>
        </p:nvSpPr>
        <p:spPr>
          <a:xfrm>
            <a:off x="904743" y="1939963"/>
            <a:ext cx="10686621" cy="3707802"/>
          </a:xfrm>
        </p:spPr>
        <p:txBody>
          <a:bodyPr/>
          <a:lstStyle/>
          <a:p>
            <a:pPr marL="0" indent="0" algn="ctr">
              <a:buNone/>
            </a:pPr>
            <a:r>
              <a:rPr lang="en-US" sz="2400" b="1" dirty="0">
                <a:solidFill>
                  <a:schemeClr val="bg1">
                    <a:lumMod val="85000"/>
                    <a:lumOff val="15000"/>
                  </a:schemeClr>
                </a:solidFill>
                <a:latin typeface="Arial Black" panose="020B0A04020102020204" pitchFamily="34" charset="0"/>
              </a:rPr>
              <a:t>To effectively run an HR analytics project, a specific technical stack is usually required:</a:t>
            </a:r>
          </a:p>
          <a:p>
            <a:pPr>
              <a:buFont typeface="Wingdings" panose="05000000000000000000" pitchFamily="2" charset="2"/>
              <a:buChar char="q"/>
            </a:pPr>
            <a:r>
              <a:rPr lang="en-US" b="1" dirty="0">
                <a:solidFill>
                  <a:schemeClr val="bg1">
                    <a:lumMod val="95000"/>
                    <a:lumOff val="5000"/>
                  </a:schemeClr>
                </a:solidFill>
                <a:latin typeface="Times New Roman" panose="02020603050405020304" pitchFamily="18" charset="0"/>
                <a:cs typeface="Times New Roman" panose="02020603050405020304" pitchFamily="18" charset="0"/>
              </a:rPr>
              <a:t>Data Sources: Information pulled from Human Research Information Systems (HRIS), Payroll, Performance Reviews, and Exit Interviews.</a:t>
            </a:r>
          </a:p>
          <a:p>
            <a:pPr>
              <a:buFont typeface="Wingdings" panose="05000000000000000000" pitchFamily="2" charset="2"/>
              <a:buChar char="q"/>
            </a:pPr>
            <a:r>
              <a:rPr lang="en-US" b="1" dirty="0">
                <a:solidFill>
                  <a:schemeClr val="bg1">
                    <a:lumMod val="95000"/>
                    <a:lumOff val="5000"/>
                  </a:schemeClr>
                </a:solidFill>
                <a:latin typeface="Times New Roman" panose="02020603050405020304" pitchFamily="18" charset="0"/>
                <a:cs typeface="Times New Roman" panose="02020603050405020304" pitchFamily="18" charset="0"/>
              </a:rPr>
              <a:t>Data Cleaning &amp; Manipulation: Using languages like SQL to query databases and Python or R for advanced statistical modeling.</a:t>
            </a:r>
          </a:p>
          <a:p>
            <a:pPr>
              <a:buFont typeface="Wingdings" panose="05000000000000000000" pitchFamily="2" charset="2"/>
              <a:buChar char="q"/>
            </a:pPr>
            <a:r>
              <a:rPr lang="en-US" b="1" dirty="0">
                <a:solidFill>
                  <a:schemeClr val="bg1">
                    <a:lumMod val="95000"/>
                    <a:lumOff val="5000"/>
                  </a:schemeClr>
                </a:solidFill>
                <a:latin typeface="Times New Roman" panose="02020603050405020304" pitchFamily="18" charset="0"/>
                <a:cs typeface="Times New Roman" panose="02020603050405020304" pitchFamily="18" charset="0"/>
              </a:rPr>
              <a:t>Visualization: Creating dashboards in tools like Tableau or Power BI to make data easy for stakeholders to understand at a glance.</a:t>
            </a:r>
            <a:endParaRPr lang="en-IN" b="1"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8299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BA7A-06E0-37BB-D617-010BE65CDFE5}"/>
              </a:ext>
            </a:extLst>
          </p:cNvPr>
          <p:cNvSpPr>
            <a:spLocks noGrp="1"/>
          </p:cNvSpPr>
          <p:nvPr>
            <p:ph type="title"/>
          </p:nvPr>
        </p:nvSpPr>
        <p:spPr>
          <a:xfrm>
            <a:off x="838200" y="791846"/>
            <a:ext cx="10515600" cy="724535"/>
          </a:xfrm>
        </p:spPr>
        <p:txBody>
          <a:bodyPr>
            <a:normAutofit/>
          </a:bodyPr>
          <a:lstStyle/>
          <a:p>
            <a:pPr algn="ctr"/>
            <a:r>
              <a:rPr lang="en-IN" sz="4000" b="1" dirty="0">
                <a:solidFill>
                  <a:schemeClr val="accent1">
                    <a:lumMod val="50000"/>
                  </a:schemeClr>
                </a:solidFill>
                <a:latin typeface="Britannic Bold" panose="020B0903060703020204" pitchFamily="34" charset="0"/>
              </a:rPr>
              <a:t>Common Use Cases</a:t>
            </a:r>
          </a:p>
        </p:txBody>
      </p:sp>
      <p:sp>
        <p:nvSpPr>
          <p:cNvPr id="4" name="Content Placeholder 3">
            <a:extLst>
              <a:ext uri="{FF2B5EF4-FFF2-40B4-BE49-F238E27FC236}">
                <a16:creationId xmlns:a16="http://schemas.microsoft.com/office/drawing/2014/main" id="{FC3CD8E1-910D-AF0E-9EA7-98BBE5F794FF}"/>
              </a:ext>
            </a:extLst>
          </p:cNvPr>
          <p:cNvSpPr>
            <a:spLocks noGrp="1"/>
          </p:cNvSpPr>
          <p:nvPr>
            <p:ph idx="1"/>
          </p:nvPr>
        </p:nvSpPr>
        <p:spPr>
          <a:xfrm>
            <a:off x="684212" y="1595718"/>
            <a:ext cx="11140235" cy="4470436"/>
          </a:xfrm>
        </p:spPr>
        <p:txBody>
          <a:bodyPr/>
          <a:lstStyle/>
          <a:p>
            <a:r>
              <a:rPr lang="en-US" sz="2400" b="1" dirty="0">
                <a:solidFill>
                  <a:schemeClr val="accent1">
                    <a:lumMod val="50000"/>
                  </a:schemeClr>
                </a:solidFill>
                <a:latin typeface="Arial Black" panose="020B0A04020102020204" pitchFamily="34" charset="0"/>
              </a:rPr>
              <a:t>Retention &amp; Churn</a:t>
            </a:r>
            <a:r>
              <a:rPr lang="en-US" sz="2400" dirty="0">
                <a:solidFill>
                  <a:schemeClr val="accent1">
                    <a:lumMod val="50000"/>
                  </a:schemeClr>
                </a:solidFill>
                <a:latin typeface="Arial Black" panose="020B0A04020102020204" pitchFamily="34" charset="0"/>
              </a:rPr>
              <a:t>:  </a:t>
            </a:r>
            <a:r>
              <a:rPr lang="en-US" sz="2400" b="1" dirty="0">
                <a:solidFill>
                  <a:schemeClr val="bg1">
                    <a:lumMod val="85000"/>
                    <a:lumOff val="15000"/>
                  </a:schemeClr>
                </a:solidFill>
                <a:latin typeface="Times New Roman" panose="02020603050405020304" pitchFamily="18" charset="0"/>
                <a:cs typeface="Times New Roman" panose="02020603050405020304" pitchFamily="18" charset="0"/>
              </a:rPr>
              <a:t>Identifying patterns among employees who resign to prevent future turnover.</a:t>
            </a:r>
          </a:p>
          <a:p>
            <a:r>
              <a:rPr lang="en-US" b="1" dirty="0"/>
              <a:t>​</a:t>
            </a:r>
            <a:r>
              <a:rPr lang="en-US" sz="2400" b="1" dirty="0">
                <a:solidFill>
                  <a:schemeClr val="accent1">
                    <a:lumMod val="50000"/>
                  </a:schemeClr>
                </a:solidFill>
                <a:latin typeface="Arial Black" panose="020B0A04020102020204" pitchFamily="34" charset="0"/>
              </a:rPr>
              <a:t>Recruitment:  </a:t>
            </a:r>
            <a:r>
              <a:rPr lang="en-US" sz="2400" b="1" dirty="0">
                <a:solidFill>
                  <a:schemeClr val="bg1">
                    <a:lumMod val="85000"/>
                    <a:lumOff val="15000"/>
                  </a:schemeClr>
                </a:solidFill>
                <a:latin typeface="Times New Roman" panose="02020603050405020304" pitchFamily="18" charset="0"/>
                <a:cs typeface="Times New Roman" panose="02020603050405020304" pitchFamily="18" charset="0"/>
              </a:rPr>
              <a:t>Analyzing which sourcing channels (LinkedIn, Referrals, Job Boards) produce the highest-quality long-term hires.</a:t>
            </a:r>
          </a:p>
          <a:p>
            <a:r>
              <a:rPr lang="en-US" dirty="0"/>
              <a:t>​</a:t>
            </a:r>
            <a:r>
              <a:rPr lang="en-US" sz="2400" b="1" dirty="0">
                <a:solidFill>
                  <a:schemeClr val="accent1">
                    <a:lumMod val="50000"/>
                  </a:schemeClr>
                </a:solidFill>
                <a:latin typeface="Arial Black" panose="020B0A04020102020204" pitchFamily="34" charset="0"/>
              </a:rPr>
              <a:t>Diversity &amp; Inclusion:  </a:t>
            </a:r>
            <a:r>
              <a:rPr lang="en-US" sz="2400" b="1" dirty="0">
                <a:solidFill>
                  <a:schemeClr val="bg1">
                    <a:lumMod val="85000"/>
                    <a:lumOff val="15000"/>
                  </a:schemeClr>
                </a:solidFill>
                <a:latin typeface="Times New Roman" panose="02020603050405020304" pitchFamily="18" charset="0"/>
                <a:cs typeface="Times New Roman" panose="02020603050405020304" pitchFamily="18" charset="0"/>
              </a:rPr>
              <a:t>Measuring pay gaps or promotion rates across different demographic groups to ensure equity.</a:t>
            </a:r>
          </a:p>
          <a:p>
            <a:r>
              <a:rPr lang="en-US" dirty="0"/>
              <a:t>​</a:t>
            </a:r>
            <a:r>
              <a:rPr lang="en-US" sz="2400" b="1" dirty="0">
                <a:solidFill>
                  <a:schemeClr val="accent1">
                    <a:lumMod val="50000"/>
                  </a:schemeClr>
                </a:solidFill>
                <a:latin typeface="Arial Black" panose="020B0A04020102020204" pitchFamily="34" charset="0"/>
              </a:rPr>
              <a:t>Performance Mapping:  </a:t>
            </a:r>
            <a:r>
              <a:rPr lang="en-US" sz="2400" b="1" dirty="0">
                <a:solidFill>
                  <a:schemeClr val="bg1">
                    <a:lumMod val="85000"/>
                    <a:lumOff val="15000"/>
                  </a:schemeClr>
                </a:solidFill>
                <a:latin typeface="Times New Roman" panose="02020603050405020304" pitchFamily="18" charset="0"/>
                <a:cs typeface="Times New Roman" panose="02020603050405020304" pitchFamily="18" charset="0"/>
              </a:rPr>
              <a:t>Correlating training programs with actual increases in employee productivity.</a:t>
            </a:r>
            <a:endParaRPr lang="en-IN" sz="2400" b="1" dirty="0">
              <a:solidFill>
                <a:schemeClr val="bg1">
                  <a:lumMod val="85000"/>
                  <a:lumOff val="1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688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551F2-7934-EEDF-1E41-258BA39188FC}"/>
              </a:ext>
            </a:extLst>
          </p:cNvPr>
          <p:cNvSpPr>
            <a:spLocks noGrp="1"/>
          </p:cNvSpPr>
          <p:nvPr>
            <p:ph type="title"/>
          </p:nvPr>
        </p:nvSpPr>
        <p:spPr>
          <a:xfrm>
            <a:off x="3350559" y="119189"/>
            <a:ext cx="5490882" cy="714528"/>
          </a:xfrm>
        </p:spPr>
        <p:txBody>
          <a:bodyPr>
            <a:normAutofit/>
          </a:bodyPr>
          <a:lstStyle/>
          <a:p>
            <a:r>
              <a:rPr lang="en-IN" sz="4000" b="1" dirty="0">
                <a:solidFill>
                  <a:schemeClr val="accent1">
                    <a:lumMod val="50000"/>
                  </a:schemeClr>
                </a:solidFill>
                <a:latin typeface="Algerian" panose="04020705040A02060702" pitchFamily="82" charset="0"/>
              </a:rPr>
              <a:t>Dashboard in excel</a:t>
            </a:r>
          </a:p>
        </p:txBody>
      </p:sp>
      <p:pic>
        <p:nvPicPr>
          <p:cNvPr id="5" name="Picture 4">
            <a:extLst>
              <a:ext uri="{FF2B5EF4-FFF2-40B4-BE49-F238E27FC236}">
                <a16:creationId xmlns:a16="http://schemas.microsoft.com/office/drawing/2014/main" id="{B03670E4-2914-2B64-78C7-5A0CC8DE8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435" y="815788"/>
            <a:ext cx="11905130" cy="5940952"/>
          </a:xfrm>
          <a:prstGeom prst="rect">
            <a:avLst/>
          </a:prstGeom>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94177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0BE7A-B697-8DE6-1F51-850E3B529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6EA64-6FAA-CF1A-F205-8DF3919034E3}"/>
              </a:ext>
            </a:extLst>
          </p:cNvPr>
          <p:cNvSpPr>
            <a:spLocks noGrp="1"/>
          </p:cNvSpPr>
          <p:nvPr>
            <p:ph type="title"/>
          </p:nvPr>
        </p:nvSpPr>
        <p:spPr>
          <a:xfrm>
            <a:off x="2960594" y="101260"/>
            <a:ext cx="6270812" cy="714528"/>
          </a:xfrm>
        </p:spPr>
        <p:txBody>
          <a:bodyPr>
            <a:normAutofit/>
          </a:bodyPr>
          <a:lstStyle/>
          <a:p>
            <a:r>
              <a:rPr lang="en-IN" sz="4000" b="1" dirty="0">
                <a:solidFill>
                  <a:schemeClr val="accent1">
                    <a:lumMod val="50000"/>
                  </a:schemeClr>
                </a:solidFill>
                <a:latin typeface="Algerian" panose="04020705040A02060702" pitchFamily="82" charset="0"/>
              </a:rPr>
              <a:t>Dashboard in Tableau</a:t>
            </a:r>
          </a:p>
        </p:txBody>
      </p:sp>
      <p:pic>
        <p:nvPicPr>
          <p:cNvPr id="5" name="Picture 4">
            <a:extLst>
              <a:ext uri="{FF2B5EF4-FFF2-40B4-BE49-F238E27FC236}">
                <a16:creationId xmlns:a16="http://schemas.microsoft.com/office/drawing/2014/main" id="{31B7C869-A069-A335-6BD8-03BCC6418A0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8555" y="815788"/>
            <a:ext cx="11874890" cy="5940952"/>
          </a:xfrm>
          <a:prstGeom prst="rect">
            <a:avLst/>
          </a:prstGeom>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65850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DEEA8-BDEB-4BDB-BB5A-D2EA50919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63BDE-D35D-7C3E-92B3-D64969B88539}"/>
              </a:ext>
            </a:extLst>
          </p:cNvPr>
          <p:cNvSpPr>
            <a:spLocks noGrp="1"/>
          </p:cNvSpPr>
          <p:nvPr>
            <p:ph type="title"/>
          </p:nvPr>
        </p:nvSpPr>
        <p:spPr>
          <a:xfrm>
            <a:off x="2960594" y="101261"/>
            <a:ext cx="6270812" cy="714528"/>
          </a:xfrm>
        </p:spPr>
        <p:txBody>
          <a:bodyPr>
            <a:normAutofit/>
          </a:bodyPr>
          <a:lstStyle/>
          <a:p>
            <a:r>
              <a:rPr lang="en-IN" sz="4000" b="1" dirty="0">
                <a:solidFill>
                  <a:schemeClr val="accent1">
                    <a:lumMod val="50000"/>
                  </a:schemeClr>
                </a:solidFill>
                <a:latin typeface="Algerian" panose="04020705040A02060702" pitchFamily="82" charset="0"/>
              </a:rPr>
              <a:t>Dashboard in POWER BI</a:t>
            </a:r>
          </a:p>
        </p:txBody>
      </p:sp>
      <p:pic>
        <p:nvPicPr>
          <p:cNvPr id="3" name="Picture 2">
            <a:extLst>
              <a:ext uri="{FF2B5EF4-FFF2-40B4-BE49-F238E27FC236}">
                <a16:creationId xmlns:a16="http://schemas.microsoft.com/office/drawing/2014/main" id="{855FD4C1-AE75-0796-1DDD-F8135B220DA8}"/>
              </a:ext>
            </a:extLst>
          </p:cNvPr>
          <p:cNvPicPr>
            <a:picLocks noChangeAspect="1"/>
          </p:cNvPicPr>
          <p:nvPr/>
        </p:nvPicPr>
        <p:blipFill>
          <a:blip r:embed="rId2">
            <a:extLst>
              <a:ext uri="{28A0092B-C50C-407E-A947-70E740481C1C}">
                <a14:useLocalDpi xmlns:a14="http://schemas.microsoft.com/office/drawing/2010/main" val="0"/>
              </a:ext>
            </a:extLst>
          </a:blip>
          <a:srcRect l="456"/>
          <a:stretch>
            <a:fillRect/>
          </a:stretch>
        </p:blipFill>
        <p:spPr>
          <a:xfrm>
            <a:off x="349624" y="815789"/>
            <a:ext cx="11555142" cy="5724118"/>
          </a:xfrm>
          <a:prstGeom prst="rect">
            <a:avLst/>
          </a:prstGeom>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53249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54FF-1DB3-F73B-9E30-4E679B7F25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E1A74-97ED-F70E-88EE-023D1E9DCC84}"/>
              </a:ext>
            </a:extLst>
          </p:cNvPr>
          <p:cNvSpPr>
            <a:spLocks noGrp="1"/>
          </p:cNvSpPr>
          <p:nvPr>
            <p:ph type="title"/>
          </p:nvPr>
        </p:nvSpPr>
        <p:spPr>
          <a:xfrm>
            <a:off x="4421841" y="110226"/>
            <a:ext cx="3348318" cy="714528"/>
          </a:xfrm>
        </p:spPr>
        <p:txBody>
          <a:bodyPr>
            <a:normAutofit/>
          </a:bodyPr>
          <a:lstStyle/>
          <a:p>
            <a:r>
              <a:rPr lang="en-IN" sz="4000" b="1" dirty="0">
                <a:solidFill>
                  <a:schemeClr val="accent1">
                    <a:lumMod val="50000"/>
                  </a:schemeClr>
                </a:solidFill>
                <a:latin typeface="Algerian" panose="04020705040A02060702" pitchFamily="82" charset="0"/>
              </a:rPr>
              <a:t>SQL QUERIES</a:t>
            </a:r>
          </a:p>
        </p:txBody>
      </p:sp>
      <p:pic>
        <p:nvPicPr>
          <p:cNvPr id="4" name="Picture 3">
            <a:extLst>
              <a:ext uri="{FF2B5EF4-FFF2-40B4-BE49-F238E27FC236}">
                <a16:creationId xmlns:a16="http://schemas.microsoft.com/office/drawing/2014/main" id="{D6FBFA6E-A587-FA74-85DF-A031FF92C9EB}"/>
              </a:ext>
            </a:extLst>
          </p:cNvPr>
          <p:cNvPicPr>
            <a:picLocks noChangeAspect="1"/>
          </p:cNvPicPr>
          <p:nvPr/>
        </p:nvPicPr>
        <p:blipFill>
          <a:blip r:embed="rId2">
            <a:extLst>
              <a:ext uri="{28A0092B-C50C-407E-A947-70E740481C1C}">
                <a14:useLocalDpi xmlns:a14="http://schemas.microsoft.com/office/drawing/2010/main" val="0"/>
              </a:ext>
            </a:extLst>
          </a:blip>
          <a:srcRect l="17952" t="13963" r="7698" b="7536"/>
          <a:stretch>
            <a:fillRect/>
          </a:stretch>
        </p:blipFill>
        <p:spPr>
          <a:xfrm>
            <a:off x="321887" y="1048871"/>
            <a:ext cx="5451385" cy="2689411"/>
          </a:xfrm>
          <a:prstGeom prst="rect">
            <a:avLst/>
          </a:prstGeom>
          <a:ln>
            <a:solidFill>
              <a:schemeClr val="bg1"/>
            </a:solidFill>
          </a:ln>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DA9877D9-3EAB-B04E-9BF6-D09A642CB01C}"/>
              </a:ext>
            </a:extLst>
          </p:cNvPr>
          <p:cNvPicPr>
            <a:picLocks noChangeAspect="1"/>
          </p:cNvPicPr>
          <p:nvPr/>
        </p:nvPicPr>
        <p:blipFill>
          <a:blip r:embed="rId3">
            <a:extLst>
              <a:ext uri="{28A0092B-C50C-407E-A947-70E740481C1C}">
                <a14:useLocalDpi xmlns:a14="http://schemas.microsoft.com/office/drawing/2010/main" val="0"/>
              </a:ext>
            </a:extLst>
          </a:blip>
          <a:srcRect l="17941" t="14371" r="6765" b="15800"/>
          <a:stretch>
            <a:fillRect/>
          </a:stretch>
        </p:blipFill>
        <p:spPr>
          <a:xfrm>
            <a:off x="5934636" y="1048871"/>
            <a:ext cx="5940609" cy="2689411"/>
          </a:xfrm>
          <a:prstGeom prst="rect">
            <a:avLst/>
          </a:prstGeom>
          <a:ln>
            <a:solidFill>
              <a:schemeClr val="bg1"/>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4ED7D8C2-E280-E117-CD7E-1115EB00CD26}"/>
              </a:ext>
            </a:extLst>
          </p:cNvPr>
          <p:cNvPicPr>
            <a:picLocks noChangeAspect="1"/>
          </p:cNvPicPr>
          <p:nvPr/>
        </p:nvPicPr>
        <p:blipFill>
          <a:blip r:embed="rId4">
            <a:extLst>
              <a:ext uri="{28A0092B-C50C-407E-A947-70E740481C1C}">
                <a14:useLocalDpi xmlns:a14="http://schemas.microsoft.com/office/drawing/2010/main" val="0"/>
              </a:ext>
            </a:extLst>
          </a:blip>
          <a:srcRect l="17206" t="11459" r="9706" b="24952"/>
          <a:stretch>
            <a:fillRect/>
          </a:stretch>
        </p:blipFill>
        <p:spPr>
          <a:xfrm>
            <a:off x="358588" y="3892051"/>
            <a:ext cx="5414685" cy="2764194"/>
          </a:xfrm>
          <a:prstGeom prst="rect">
            <a:avLst/>
          </a:prstGeom>
          <a:ln>
            <a:solidFill>
              <a:schemeClr val="bg1"/>
            </a:solid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DCE3D1C8-F805-F544-EBE3-5735593F9506}"/>
              </a:ext>
            </a:extLst>
          </p:cNvPr>
          <p:cNvPicPr>
            <a:picLocks noChangeAspect="1"/>
          </p:cNvPicPr>
          <p:nvPr/>
        </p:nvPicPr>
        <p:blipFill>
          <a:blip r:embed="rId5"/>
          <a:stretch>
            <a:fillRect/>
          </a:stretch>
        </p:blipFill>
        <p:spPr>
          <a:xfrm>
            <a:off x="5934636" y="3892051"/>
            <a:ext cx="5940609" cy="2791138"/>
          </a:xfrm>
          <a:prstGeom prst="rect">
            <a:avLst/>
          </a:prstGeom>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7610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181C9-095B-8767-82CE-8FF04571B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CE7B6-4CDE-D375-5940-51C69A0711C5}"/>
              </a:ext>
            </a:extLst>
          </p:cNvPr>
          <p:cNvSpPr>
            <a:spLocks noGrp="1"/>
          </p:cNvSpPr>
          <p:nvPr>
            <p:ph type="title"/>
          </p:nvPr>
        </p:nvSpPr>
        <p:spPr>
          <a:xfrm>
            <a:off x="4421841" y="101262"/>
            <a:ext cx="3348318" cy="714528"/>
          </a:xfrm>
        </p:spPr>
        <p:txBody>
          <a:bodyPr>
            <a:normAutofit/>
          </a:bodyPr>
          <a:lstStyle/>
          <a:p>
            <a:r>
              <a:rPr lang="en-IN" sz="4000" b="1" dirty="0">
                <a:solidFill>
                  <a:schemeClr val="accent1">
                    <a:lumMod val="50000"/>
                  </a:schemeClr>
                </a:solidFill>
                <a:latin typeface="Algerian" panose="04020705040A02060702" pitchFamily="82" charset="0"/>
              </a:rPr>
              <a:t>SQL QUERIES</a:t>
            </a:r>
          </a:p>
        </p:txBody>
      </p:sp>
      <p:pic>
        <p:nvPicPr>
          <p:cNvPr id="6" name="Picture 5">
            <a:extLst>
              <a:ext uri="{FF2B5EF4-FFF2-40B4-BE49-F238E27FC236}">
                <a16:creationId xmlns:a16="http://schemas.microsoft.com/office/drawing/2014/main" id="{400DBA4E-2EED-68E3-7B4B-AC9FDF4BDB9F}"/>
              </a:ext>
            </a:extLst>
          </p:cNvPr>
          <p:cNvPicPr>
            <a:picLocks noChangeAspect="1"/>
          </p:cNvPicPr>
          <p:nvPr/>
        </p:nvPicPr>
        <p:blipFill>
          <a:blip r:embed="rId2">
            <a:extLst>
              <a:ext uri="{28A0092B-C50C-407E-A947-70E740481C1C}">
                <a14:useLocalDpi xmlns:a14="http://schemas.microsoft.com/office/drawing/2010/main" val="0"/>
              </a:ext>
            </a:extLst>
          </a:blip>
          <a:srcRect l="16397" t="9666" r="24404" b="2466"/>
          <a:stretch>
            <a:fillRect/>
          </a:stretch>
        </p:blipFill>
        <p:spPr>
          <a:xfrm>
            <a:off x="412378" y="1295399"/>
            <a:ext cx="5091952" cy="4894730"/>
          </a:xfrm>
          <a:prstGeom prst="rect">
            <a:avLst/>
          </a:prstGeom>
          <a:ln>
            <a:solidFill>
              <a:schemeClr val="bg1"/>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40F95045-D508-36C0-86A5-61246E9DE9B9}"/>
              </a:ext>
            </a:extLst>
          </p:cNvPr>
          <p:cNvPicPr>
            <a:picLocks noChangeAspect="1"/>
          </p:cNvPicPr>
          <p:nvPr/>
        </p:nvPicPr>
        <p:blipFill>
          <a:blip r:embed="rId3">
            <a:extLst>
              <a:ext uri="{28A0092B-C50C-407E-A947-70E740481C1C}">
                <a14:useLocalDpi xmlns:a14="http://schemas.microsoft.com/office/drawing/2010/main" val="0"/>
              </a:ext>
            </a:extLst>
          </a:blip>
          <a:srcRect l="18750" t="8740" r="3015" b="2221"/>
          <a:stretch>
            <a:fillRect/>
          </a:stretch>
        </p:blipFill>
        <p:spPr>
          <a:xfrm>
            <a:off x="5746375" y="1228164"/>
            <a:ext cx="6185647" cy="5029200"/>
          </a:xfrm>
          <a:prstGeom prst="rect">
            <a:avLst/>
          </a:prstGeom>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32448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0FBA-60C5-D213-AD95-5F3FE75ABF83}"/>
              </a:ext>
            </a:extLst>
          </p:cNvPr>
          <p:cNvSpPr>
            <a:spLocks noGrp="1"/>
          </p:cNvSpPr>
          <p:nvPr>
            <p:ph type="title"/>
          </p:nvPr>
        </p:nvSpPr>
        <p:spPr>
          <a:xfrm>
            <a:off x="3738531" y="521916"/>
            <a:ext cx="4714937" cy="733141"/>
          </a:xfrm>
        </p:spPr>
        <p:txBody>
          <a:bodyPr>
            <a:normAutofit/>
          </a:bodyPr>
          <a:lstStyle/>
          <a:p>
            <a:r>
              <a:rPr lang="en-US" sz="4000" dirty="0">
                <a:solidFill>
                  <a:schemeClr val="accent1">
                    <a:lumMod val="50000"/>
                  </a:schemeClr>
                </a:solidFill>
                <a:latin typeface="Rockwell Extra Bold" panose="02060903040505020403" pitchFamily="18" charset="0"/>
              </a:rPr>
              <a:t>CONCLUSION</a:t>
            </a:r>
            <a:endParaRPr lang="en-IN" sz="4000" dirty="0">
              <a:solidFill>
                <a:schemeClr val="accent1">
                  <a:lumMod val="50000"/>
                </a:schemeClr>
              </a:solidFill>
              <a:latin typeface="Rockwell Extra Bold" panose="02060903040505020403" pitchFamily="18" charset="0"/>
            </a:endParaRPr>
          </a:p>
        </p:txBody>
      </p:sp>
      <p:sp>
        <p:nvSpPr>
          <p:cNvPr id="3" name="Content Placeholder 2">
            <a:extLst>
              <a:ext uri="{FF2B5EF4-FFF2-40B4-BE49-F238E27FC236}">
                <a16:creationId xmlns:a16="http://schemas.microsoft.com/office/drawing/2014/main" id="{E673FA04-361A-4DC4-67DE-DC9E0665EC06}"/>
              </a:ext>
            </a:extLst>
          </p:cNvPr>
          <p:cNvSpPr>
            <a:spLocks noGrp="1"/>
          </p:cNvSpPr>
          <p:nvPr>
            <p:ph idx="1"/>
          </p:nvPr>
        </p:nvSpPr>
        <p:spPr>
          <a:xfrm>
            <a:off x="289559" y="1255057"/>
            <a:ext cx="11427311" cy="5081025"/>
          </a:xfrm>
        </p:spPr>
        <p:txBody>
          <a:bodyPr>
            <a:noAutofit/>
          </a:bodyPr>
          <a:lstStyle/>
          <a:p>
            <a:r>
              <a:rPr lang="en-US" b="1" dirty="0">
                <a:solidFill>
                  <a:schemeClr val="bg1">
                    <a:lumMod val="95000"/>
                    <a:lumOff val="5000"/>
                  </a:schemeClr>
                </a:solidFill>
                <a:latin typeface="Times New Roman" panose="02020603050405020304" pitchFamily="18" charset="0"/>
                <a:cs typeface="Times New Roman" panose="02020603050405020304" pitchFamily="18" charset="0"/>
              </a:rPr>
              <a:t>HR Analytics project demonstrates that data-driven decision-making is no longer optional for modern organizations. By synthesizing disparate data points—from recruitment efficiency to employee turnover—we have moved beyond simple reporting toward predictive workforce strategy. </a:t>
            </a:r>
          </a:p>
          <a:p>
            <a:r>
              <a:rPr lang="en-US" b="1" dirty="0">
                <a:solidFill>
                  <a:schemeClr val="bg1">
                    <a:lumMod val="95000"/>
                    <a:lumOff val="5000"/>
                  </a:schemeClr>
                </a:solidFill>
                <a:latin typeface="Times New Roman" panose="02020603050405020304" pitchFamily="18" charset="0"/>
                <a:cs typeface="Times New Roman" panose="02020603050405020304" pitchFamily="18" charset="0"/>
              </a:rPr>
              <a:t>The insights gathered highlight a direct correlation between employee engagement initiatives and long-term retention rates. Moving forward, these findings provide a clear roadmap for leadership to address attrition risks before they impact the bottom line. By implementing the recommended interventions, the organization can expect a measurable increase in productivity and a significant reduction in hiring costs. </a:t>
            </a:r>
          </a:p>
          <a:p>
            <a:r>
              <a:rPr lang="en-US" b="1" dirty="0">
                <a:solidFill>
                  <a:schemeClr val="bg1">
                    <a:lumMod val="95000"/>
                    <a:lumOff val="5000"/>
                  </a:schemeClr>
                </a:solidFill>
                <a:latin typeface="Times New Roman" panose="02020603050405020304" pitchFamily="18" charset="0"/>
                <a:cs typeface="Times New Roman" panose="02020603050405020304" pitchFamily="18" charset="0"/>
              </a:rPr>
              <a:t>Ultimately, HR Analytics transforms the human resources function from a traditional cost center into a primary driver of organizational growth. This shift ensures that every people-related decision is backed by evidence, aligning talent management with the company’s broader financial and operational goals.</a:t>
            </a:r>
          </a:p>
        </p:txBody>
      </p:sp>
    </p:spTree>
    <p:extLst>
      <p:ext uri="{BB962C8B-B14F-4D97-AF65-F5344CB8AC3E}">
        <p14:creationId xmlns:p14="http://schemas.microsoft.com/office/powerpoint/2010/main" val="169478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B9AC7A-22E5-4646-AF00-B06F9A3039CC}"/>
              </a:ext>
            </a:extLst>
          </p:cNvPr>
          <p:cNvSpPr>
            <a:spLocks noGrp="1"/>
          </p:cNvSpPr>
          <p:nvPr>
            <p:ph idx="1"/>
          </p:nvPr>
        </p:nvSpPr>
        <p:spPr>
          <a:xfrm>
            <a:off x="329938" y="860612"/>
            <a:ext cx="11023862" cy="4679576"/>
          </a:xfrm>
        </p:spPr>
        <p:txBody>
          <a:bodyPr>
            <a:normAutofit fontScale="92500"/>
          </a:bodyPr>
          <a:lstStyle/>
          <a:p>
            <a:pPr marL="0" indent="0">
              <a:buNone/>
            </a:pPr>
            <a:r>
              <a:rPr lang="en-US" sz="4300" dirty="0">
                <a:solidFill>
                  <a:schemeClr val="accent1">
                    <a:lumMod val="50000"/>
                  </a:schemeClr>
                </a:solidFill>
                <a:latin typeface="Stencil" panose="040409050D0802020404" pitchFamily="82" charset="0"/>
                <a:cs typeface="Times New Roman" panose="02020603050405020304" pitchFamily="18" charset="0"/>
              </a:rPr>
              <a:t>Key Learnings</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1" dirty="0">
                <a:solidFill>
                  <a:schemeClr val="bg1">
                    <a:lumMod val="95000"/>
                    <a:lumOff val="5000"/>
                  </a:schemeClr>
                </a:solidFill>
                <a:latin typeface="Times New Roman" panose="02020603050405020304" pitchFamily="18" charset="0"/>
                <a:cs typeface="Times New Roman" panose="02020603050405020304" pitchFamily="18" charset="0"/>
              </a:rPr>
              <a:t>Evidence-Based Decisions: Moves HR from "gut feeling" to data-backed strategies.</a:t>
            </a:r>
          </a:p>
          <a:p>
            <a:pPr>
              <a:buFont typeface="Wingdings" panose="05000000000000000000" pitchFamily="2" charset="2"/>
              <a:buChar char="Ø"/>
            </a:pPr>
            <a:r>
              <a:rPr lang="en-US" sz="2400" b="1" dirty="0">
                <a:solidFill>
                  <a:schemeClr val="bg1">
                    <a:lumMod val="95000"/>
                    <a:lumOff val="5000"/>
                  </a:schemeClr>
                </a:solidFill>
                <a:latin typeface="Times New Roman" panose="02020603050405020304" pitchFamily="18" charset="0"/>
                <a:cs typeface="Times New Roman" panose="02020603050405020304" pitchFamily="18" charset="0"/>
              </a:rPr>
              <a:t>Predictive Insight: Shifts from analyzing past turnover to preventing future attrition.</a:t>
            </a:r>
          </a:p>
          <a:p>
            <a:pPr>
              <a:buFont typeface="Wingdings" panose="05000000000000000000" pitchFamily="2" charset="2"/>
              <a:buChar char="Ø"/>
            </a:pPr>
            <a:r>
              <a:rPr lang="en-US" sz="2400" b="1" dirty="0">
                <a:solidFill>
                  <a:schemeClr val="bg1">
                    <a:lumMod val="95000"/>
                    <a:lumOff val="5000"/>
                  </a:schemeClr>
                </a:solidFill>
                <a:latin typeface="Times New Roman" panose="02020603050405020304" pitchFamily="18" charset="0"/>
                <a:cs typeface="Times New Roman" panose="02020603050405020304" pitchFamily="18" charset="0"/>
              </a:rPr>
              <a:t>Financial Impact: Quantifies how employee engagement directly boosts the bottom line.</a:t>
            </a:r>
          </a:p>
          <a:p>
            <a:pPr>
              <a:buFont typeface="Wingdings" panose="05000000000000000000" pitchFamily="2" charset="2"/>
              <a:buChar char="Ø"/>
            </a:pPr>
            <a:r>
              <a:rPr lang="en-US" sz="2400" b="1" dirty="0">
                <a:solidFill>
                  <a:schemeClr val="bg1">
                    <a:lumMod val="95000"/>
                    <a:lumOff val="5000"/>
                  </a:schemeClr>
                </a:solidFill>
                <a:latin typeface="Times New Roman" panose="02020603050405020304" pitchFamily="18" charset="0"/>
                <a:cs typeface="Times New Roman" panose="02020603050405020304" pitchFamily="18" charset="0"/>
              </a:rPr>
              <a:t>Bias Reduction: Uses objective metrics to ensure fairness in hiring and promotions.</a:t>
            </a:r>
          </a:p>
          <a:p>
            <a:pPr>
              <a:buFont typeface="Wingdings" panose="05000000000000000000" pitchFamily="2" charset="2"/>
              <a:buChar char="Ø"/>
            </a:pPr>
            <a:r>
              <a:rPr lang="en-US" sz="2400" b="1" dirty="0">
                <a:solidFill>
                  <a:schemeClr val="bg1">
                    <a:lumMod val="95000"/>
                    <a:lumOff val="5000"/>
                  </a:schemeClr>
                </a:solidFill>
                <a:latin typeface="Times New Roman" panose="02020603050405020304" pitchFamily="18" charset="0"/>
                <a:cs typeface="Times New Roman" panose="02020603050405020304" pitchFamily="18" charset="0"/>
              </a:rPr>
              <a:t>Strategic Partnership: Elevates HR from a support function to a core business driver.</a:t>
            </a:r>
            <a:endParaRPr lang="en-IN" sz="2400" b="1"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3156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F8967-FFCE-F9FE-0331-488FD4CE2F7B}"/>
              </a:ext>
            </a:extLst>
          </p:cNvPr>
          <p:cNvSpPr>
            <a:spLocks noGrp="1"/>
          </p:cNvSpPr>
          <p:nvPr>
            <p:ph type="title"/>
          </p:nvPr>
        </p:nvSpPr>
        <p:spPr>
          <a:xfrm>
            <a:off x="2854226" y="2361270"/>
            <a:ext cx="5949115" cy="1496419"/>
          </a:xfrm>
        </p:spPr>
        <p:txBody>
          <a:bodyPr>
            <a:normAutofit/>
          </a:bodyPr>
          <a:lstStyle/>
          <a:p>
            <a:r>
              <a:rPr lang="en-IN" sz="6600" dirty="0">
                <a:solidFill>
                  <a:schemeClr val="accent1">
                    <a:lumMod val="50000"/>
                  </a:schemeClr>
                </a:solidFill>
                <a:latin typeface="Broadway" panose="04040905080B02020502" pitchFamily="82" charset="0"/>
              </a:rPr>
              <a:t>Thank you</a:t>
            </a:r>
          </a:p>
        </p:txBody>
      </p:sp>
    </p:spTree>
    <p:extLst>
      <p:ext uri="{BB962C8B-B14F-4D97-AF65-F5344CB8AC3E}">
        <p14:creationId xmlns:p14="http://schemas.microsoft.com/office/powerpoint/2010/main" val="350091019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737</TotalTime>
  <Words>595</Words>
  <Application>Microsoft Office PowerPoint</Application>
  <PresentationFormat>Widescreen</PresentationFormat>
  <Paragraphs>45</Paragraphs>
  <Slides>14</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Algerian</vt:lpstr>
      <vt:lpstr>Arial Black</vt:lpstr>
      <vt:lpstr>Bodoni MT Black</vt:lpstr>
      <vt:lpstr>Britannic Bold</vt:lpstr>
      <vt:lpstr>Broadway</vt:lpstr>
      <vt:lpstr>Calibri</vt:lpstr>
      <vt:lpstr>Century Gothic</vt:lpstr>
      <vt:lpstr>Elephant</vt:lpstr>
      <vt:lpstr>Rockwell Extra Bold</vt:lpstr>
      <vt:lpstr>Stencil</vt:lpstr>
      <vt:lpstr>Times New Roman</vt:lpstr>
      <vt:lpstr>Wingdings</vt:lpstr>
      <vt:lpstr>Wingdings 3</vt:lpstr>
      <vt:lpstr>Slice</vt:lpstr>
      <vt:lpstr>Hr analytics</vt:lpstr>
      <vt:lpstr>Group Members </vt:lpstr>
      <vt:lpstr>PowerPoint Presentation</vt:lpstr>
      <vt:lpstr>The Four Levels of Analytics</vt:lpstr>
      <vt:lpstr>Key Components &amp; Tools</vt:lpstr>
      <vt:lpstr>Common Use Cases</vt:lpstr>
      <vt:lpstr>Dashboard in excel</vt:lpstr>
      <vt:lpstr>Dashboard in Tableau</vt:lpstr>
      <vt:lpstr>Dashboard in POWER BI</vt:lpstr>
      <vt:lpstr>SQL QUERIES</vt:lpstr>
      <vt:lpstr>SQL QUERIES</vt:lpstr>
      <vt:lpstr>CONCLUSION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dc:title>
  <dc:creator>THARUN KUMAR VEERAMANI</dc:creator>
  <cp:lastModifiedBy>Sasi K</cp:lastModifiedBy>
  <cp:revision>7</cp:revision>
  <dcterms:created xsi:type="dcterms:W3CDTF">2025-04-09T07:01:16Z</dcterms:created>
  <dcterms:modified xsi:type="dcterms:W3CDTF">2026-03-10T06:37:55Z</dcterms:modified>
</cp:coreProperties>
</file>